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9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ECF0AC-751D-465B-85C6-4ED543CB8A1B}" v="30" dt="2026-09-11T13:44:14.6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rrar Khan" userId="f7175e1d387020b4" providerId="LiveId" clId="{558998BB-1E8F-4DA9-AC39-AD75BAF0E592}"/>
    <pc:docChg chg="undo custSel addSld delSld modSld sldOrd">
      <pc:chgData name="Jarrar Khan" userId="f7175e1d387020b4" providerId="LiveId" clId="{558998BB-1E8F-4DA9-AC39-AD75BAF0E592}" dt="2026-09-11T13:44:14.668" v="173"/>
      <pc:docMkLst>
        <pc:docMk/>
      </pc:docMkLst>
      <pc:sldChg chg="delSp del mod">
        <pc:chgData name="Jarrar Khan" userId="f7175e1d387020b4" providerId="LiveId" clId="{558998BB-1E8F-4DA9-AC39-AD75BAF0E592}" dt="2026-09-11T13:32:09.096" v="102" actId="2696"/>
        <pc:sldMkLst>
          <pc:docMk/>
          <pc:sldMk cId="0" sldId="256"/>
        </pc:sldMkLst>
        <pc:spChg chg="del">
          <ac:chgData name="Jarrar Khan" userId="f7175e1d387020b4" providerId="LiveId" clId="{558998BB-1E8F-4DA9-AC39-AD75BAF0E592}" dt="2026-09-11T13:30:02.633" v="92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Jarrar Khan" userId="f7175e1d387020b4" providerId="LiveId" clId="{558998BB-1E8F-4DA9-AC39-AD75BAF0E592}" dt="2026-09-11T13:30:06.041" v="93" actId="478"/>
          <ac:spMkLst>
            <pc:docMk/>
            <pc:sldMk cId="0" sldId="256"/>
            <ac:spMk id="5" creationId="{00000000-0000-0000-0000-000000000000}"/>
          </ac:spMkLst>
        </pc:spChg>
      </pc:sldChg>
      <pc:sldChg chg="delSp modSp mod modTransition">
        <pc:chgData name="Jarrar Khan" userId="f7175e1d387020b4" providerId="LiveId" clId="{558998BB-1E8F-4DA9-AC39-AD75BAF0E592}" dt="2026-09-11T13:42:23.773" v="154"/>
        <pc:sldMkLst>
          <pc:docMk/>
          <pc:sldMk cId="0" sldId="257"/>
        </pc:sldMkLst>
        <pc:spChg chg="del">
          <ac:chgData name="Jarrar Khan" userId="f7175e1d387020b4" providerId="LiveId" clId="{558998BB-1E8F-4DA9-AC39-AD75BAF0E592}" dt="2026-09-11T13:29:42.553" v="89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Jarrar Khan" userId="f7175e1d387020b4" providerId="LiveId" clId="{558998BB-1E8F-4DA9-AC39-AD75BAF0E592}" dt="2026-09-11T13:29:40.601" v="88" actId="478"/>
          <ac:spMkLst>
            <pc:docMk/>
            <pc:sldMk cId="0" sldId="257"/>
            <ac:spMk id="5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30:33.025" v="94" actId="403"/>
          <ac:spMkLst>
            <pc:docMk/>
            <pc:sldMk cId="0" sldId="257"/>
            <ac:spMk id="7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30:33.025" v="94" actId="403"/>
          <ac:spMkLst>
            <pc:docMk/>
            <pc:sldMk cId="0" sldId="257"/>
            <ac:spMk id="8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30:33.025" v="94" actId="403"/>
          <ac:spMkLst>
            <pc:docMk/>
            <pc:sldMk cId="0" sldId="257"/>
            <ac:spMk id="9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31:03.024" v="101" actId="20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30:33.025" v="94" actId="403"/>
          <ac:spMkLst>
            <pc:docMk/>
            <pc:sldMk cId="0" sldId="257"/>
            <ac:spMk id="11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30:33.025" v="94" actId="403"/>
          <ac:spMkLst>
            <pc:docMk/>
            <pc:sldMk cId="0" sldId="257"/>
            <ac:spMk id="12" creationId="{00000000-0000-0000-0000-000000000000}"/>
          </ac:spMkLst>
        </pc:spChg>
      </pc:sldChg>
      <pc:sldChg chg="delSp modSp mod modTransition">
        <pc:chgData name="Jarrar Khan" userId="f7175e1d387020b4" providerId="LiveId" clId="{558998BB-1E8F-4DA9-AC39-AD75BAF0E592}" dt="2026-09-11T13:42:31.516" v="155"/>
        <pc:sldMkLst>
          <pc:docMk/>
          <pc:sldMk cId="0" sldId="258"/>
        </pc:sldMkLst>
        <pc:spChg chg="mod">
          <ac:chgData name="Jarrar Khan" userId="f7175e1d387020b4" providerId="LiveId" clId="{558998BB-1E8F-4DA9-AC39-AD75BAF0E592}" dt="2026-09-11T13:29:04.752" v="82" actId="403"/>
          <ac:spMkLst>
            <pc:docMk/>
            <pc:sldMk cId="0" sldId="258"/>
            <ac:spMk id="3" creationId="{00000000-0000-0000-0000-000000000000}"/>
          </ac:spMkLst>
        </pc:spChg>
        <pc:spChg chg="del">
          <ac:chgData name="Jarrar Khan" userId="f7175e1d387020b4" providerId="LiveId" clId="{558998BB-1E8F-4DA9-AC39-AD75BAF0E592}" dt="2026-09-11T13:29:52.074" v="90" actId="478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Jarrar Khan" userId="f7175e1d387020b4" providerId="LiveId" clId="{558998BB-1E8F-4DA9-AC39-AD75BAF0E592}" dt="2026-09-11T13:29:55.881" v="91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9:04.752" v="82" actId="403"/>
          <ac:spMkLst>
            <pc:docMk/>
            <pc:sldMk cId="0" sldId="258"/>
            <ac:spMk id="7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9:15.708" v="86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9:04.752" v="82" actId="403"/>
          <ac:spMkLst>
            <pc:docMk/>
            <pc:sldMk cId="0" sldId="258"/>
            <ac:spMk id="9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9:04.752" v="82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9:04.752" v="82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9:04.752" v="82" actId="403"/>
          <ac:spMkLst>
            <pc:docMk/>
            <pc:sldMk cId="0" sldId="258"/>
            <ac:spMk id="12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9:32.420" v="87" actId="1410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9:04.752" v="82" actId="403"/>
          <ac:spMkLst>
            <pc:docMk/>
            <pc:sldMk cId="0" sldId="258"/>
            <ac:spMk id="14" creationId="{00000000-0000-0000-0000-000000000000}"/>
          </ac:spMkLst>
        </pc:spChg>
      </pc:sldChg>
      <pc:sldChg chg="delSp modSp mod modTransition">
        <pc:chgData name="Jarrar Khan" userId="f7175e1d387020b4" providerId="LiveId" clId="{558998BB-1E8F-4DA9-AC39-AD75BAF0E592}" dt="2026-09-11T13:42:35.748" v="156"/>
        <pc:sldMkLst>
          <pc:docMk/>
          <pc:sldMk cId="0" sldId="259"/>
        </pc:sldMkLst>
        <pc:spChg chg="del">
          <ac:chgData name="Jarrar Khan" userId="f7175e1d387020b4" providerId="LiveId" clId="{558998BB-1E8F-4DA9-AC39-AD75BAF0E592}" dt="2026-09-11T13:28:38.634" v="80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Jarrar Khan" userId="f7175e1d387020b4" providerId="LiveId" clId="{558998BB-1E8F-4DA9-AC39-AD75BAF0E592}" dt="2026-09-11T13:28:41.865" v="81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8:15.088" v="77" actId="403"/>
          <ac:spMkLst>
            <pc:docMk/>
            <pc:sldMk cId="0" sldId="259"/>
            <ac:spMk id="8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8:25.092" v="78" actId="40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8:30.291" v="79" actId="403"/>
          <ac:spMkLst>
            <pc:docMk/>
            <pc:sldMk cId="0" sldId="259"/>
            <ac:spMk id="12" creationId="{00000000-0000-0000-0000-000000000000}"/>
          </ac:spMkLst>
        </pc:spChg>
      </pc:sldChg>
      <pc:sldChg chg="delSp modSp mod modTransition">
        <pc:chgData name="Jarrar Khan" userId="f7175e1d387020b4" providerId="LiveId" clId="{558998BB-1E8F-4DA9-AC39-AD75BAF0E592}" dt="2026-09-11T13:42:58.093" v="161"/>
        <pc:sldMkLst>
          <pc:docMk/>
          <pc:sldMk cId="0" sldId="260"/>
        </pc:sldMkLst>
        <pc:spChg chg="del">
          <ac:chgData name="Jarrar Khan" userId="f7175e1d387020b4" providerId="LiveId" clId="{558998BB-1E8F-4DA9-AC39-AD75BAF0E592}" dt="2026-09-11T13:27:50.516" v="73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Jarrar Khan" userId="f7175e1d387020b4" providerId="LiveId" clId="{558998BB-1E8F-4DA9-AC39-AD75BAF0E592}" dt="2026-09-11T13:27:53.065" v="74" actId="478"/>
          <ac:spMkLst>
            <pc:docMk/>
            <pc:sldMk cId="0" sldId="260"/>
            <ac:spMk id="5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40.026" v="71" actId="404"/>
          <ac:spMkLst>
            <pc:docMk/>
            <pc:sldMk cId="0" sldId="260"/>
            <ac:spMk id="9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40.026" v="71" actId="404"/>
          <ac:spMkLst>
            <pc:docMk/>
            <pc:sldMk cId="0" sldId="260"/>
            <ac:spMk id="11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40.026" v="71" actId="404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40.026" v="71" actId="404"/>
          <ac:spMkLst>
            <pc:docMk/>
            <pc:sldMk cId="0" sldId="260"/>
            <ac:spMk id="17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40.026" v="71" actId="404"/>
          <ac:spMkLst>
            <pc:docMk/>
            <pc:sldMk cId="0" sldId="260"/>
            <ac:spMk id="18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40.026" v="71" actId="404"/>
          <ac:spMkLst>
            <pc:docMk/>
            <pc:sldMk cId="0" sldId="260"/>
            <ac:spMk id="20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40.026" v="71" actId="404"/>
          <ac:spMkLst>
            <pc:docMk/>
            <pc:sldMk cId="0" sldId="260"/>
            <ac:spMk id="23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40.026" v="71" actId="404"/>
          <ac:spMkLst>
            <pc:docMk/>
            <pc:sldMk cId="0" sldId="260"/>
            <ac:spMk id="25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40.026" v="71" actId="404"/>
          <ac:spMkLst>
            <pc:docMk/>
            <pc:sldMk cId="0" sldId="260"/>
            <ac:spMk id="27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40.026" v="71" actId="404"/>
          <ac:spMkLst>
            <pc:docMk/>
            <pc:sldMk cId="0" sldId="260"/>
            <ac:spMk id="30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45.826" v="72" actId="403"/>
          <ac:spMkLst>
            <pc:docMk/>
            <pc:sldMk cId="0" sldId="260"/>
            <ac:spMk id="31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45.826" v="72" actId="403"/>
          <ac:spMkLst>
            <pc:docMk/>
            <pc:sldMk cId="0" sldId="260"/>
            <ac:spMk id="32" creationId="{00000000-0000-0000-0000-000000000000}"/>
          </ac:spMkLst>
        </pc:spChg>
      </pc:sldChg>
      <pc:sldChg chg="delSp modSp mod modTransition">
        <pc:chgData name="Jarrar Khan" userId="f7175e1d387020b4" providerId="LiveId" clId="{558998BB-1E8F-4DA9-AC39-AD75BAF0E592}" dt="2026-09-11T13:43:18.772" v="164"/>
        <pc:sldMkLst>
          <pc:docMk/>
          <pc:sldMk cId="0" sldId="261"/>
        </pc:sldMkLst>
        <pc:spChg chg="del">
          <ac:chgData name="Jarrar Khan" userId="f7175e1d387020b4" providerId="LiveId" clId="{558998BB-1E8F-4DA9-AC39-AD75BAF0E592}" dt="2026-09-11T13:27:58.153" v="75" actId="478"/>
          <ac:spMkLst>
            <pc:docMk/>
            <pc:sldMk cId="0" sldId="261"/>
            <ac:spMk id="4" creationId="{00000000-0000-0000-0000-000000000000}"/>
          </ac:spMkLst>
        </pc:spChg>
        <pc:spChg chg="del">
          <ac:chgData name="Jarrar Khan" userId="f7175e1d387020b4" providerId="LiveId" clId="{558998BB-1E8F-4DA9-AC39-AD75BAF0E592}" dt="2026-09-11T13:28:00.770" v="76" actId="478"/>
          <ac:spMkLst>
            <pc:docMk/>
            <pc:sldMk cId="0" sldId="261"/>
            <ac:spMk id="5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15.426" v="67" actId="122"/>
          <ac:spMkLst>
            <pc:docMk/>
            <pc:sldMk cId="0" sldId="261"/>
            <ac:spMk id="8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15.426" v="67" actId="122"/>
          <ac:spMkLst>
            <pc:docMk/>
            <pc:sldMk cId="0" sldId="261"/>
            <ac:spMk id="9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15.426" v="67" actId="122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15.426" v="67" actId="122"/>
          <ac:spMkLst>
            <pc:docMk/>
            <pc:sldMk cId="0" sldId="261"/>
            <ac:spMk id="13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15.426" v="67" actId="122"/>
          <ac:spMkLst>
            <pc:docMk/>
            <pc:sldMk cId="0" sldId="261"/>
            <ac:spMk id="14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15.426" v="67" actId="122"/>
          <ac:spMkLst>
            <pc:docMk/>
            <pc:sldMk cId="0" sldId="261"/>
            <ac:spMk id="15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15.426" v="67" actId="122"/>
          <ac:spMkLst>
            <pc:docMk/>
            <pc:sldMk cId="0" sldId="261"/>
            <ac:spMk id="16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15.426" v="67" actId="122"/>
          <ac:spMkLst>
            <pc:docMk/>
            <pc:sldMk cId="0" sldId="261"/>
            <ac:spMk id="17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15.426" v="67" actId="122"/>
          <ac:spMkLst>
            <pc:docMk/>
            <pc:sldMk cId="0" sldId="261"/>
            <ac:spMk id="18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6:59.516" v="66" actId="403"/>
          <ac:spMkLst>
            <pc:docMk/>
            <pc:sldMk cId="0" sldId="261"/>
            <ac:spMk id="20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15.426" v="67" actId="122"/>
          <ac:spMkLst>
            <pc:docMk/>
            <pc:sldMk cId="0" sldId="261"/>
            <ac:spMk id="22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15:46.039" v="2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7:26.176" v="68" actId="403"/>
          <ac:spMkLst>
            <pc:docMk/>
            <pc:sldMk cId="0" sldId="261"/>
            <ac:spMk id="24" creationId="{00000000-0000-0000-0000-000000000000}"/>
          </ac:spMkLst>
        </pc:spChg>
      </pc:sldChg>
      <pc:sldChg chg="modSp mod modTransition">
        <pc:chgData name="Jarrar Khan" userId="f7175e1d387020b4" providerId="LiveId" clId="{558998BB-1E8F-4DA9-AC39-AD75BAF0E592}" dt="2026-09-11T13:43:28.157" v="166"/>
        <pc:sldMkLst>
          <pc:docMk/>
          <pc:sldMk cId="0" sldId="262"/>
        </pc:sldMkLst>
        <pc:spChg chg="mod">
          <ac:chgData name="Jarrar Khan" userId="f7175e1d387020b4" providerId="LiveId" clId="{558998BB-1E8F-4DA9-AC39-AD75BAF0E592}" dt="2026-09-11T13:26:30.189" v="64" actId="403"/>
          <ac:spMkLst>
            <pc:docMk/>
            <pc:sldMk cId="0" sldId="262"/>
            <ac:spMk id="5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6:30.189" v="64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6:30.189" v="64" actId="403"/>
          <ac:spMkLst>
            <pc:docMk/>
            <pc:sldMk cId="0" sldId="262"/>
            <ac:spMk id="12" creationId="{00000000-0000-0000-0000-000000000000}"/>
          </ac:spMkLst>
        </pc:spChg>
      </pc:sldChg>
      <pc:sldChg chg="delSp modSp mod modTransition">
        <pc:chgData name="Jarrar Khan" userId="f7175e1d387020b4" providerId="LiveId" clId="{558998BB-1E8F-4DA9-AC39-AD75BAF0E592}" dt="2026-09-11T13:43:34.637" v="167"/>
        <pc:sldMkLst>
          <pc:docMk/>
          <pc:sldMk cId="0" sldId="263"/>
        </pc:sldMkLst>
        <pc:spChg chg="mod">
          <ac:chgData name="Jarrar Khan" userId="f7175e1d387020b4" providerId="LiveId" clId="{558998BB-1E8F-4DA9-AC39-AD75BAF0E592}" dt="2026-09-11T13:26:09.497" v="61" actId="403"/>
          <ac:spMkLst>
            <pc:docMk/>
            <pc:sldMk cId="0" sldId="263"/>
            <ac:spMk id="3" creationId="{00000000-0000-0000-0000-000000000000}"/>
          </ac:spMkLst>
        </pc:spChg>
        <pc:spChg chg="del mod">
          <ac:chgData name="Jarrar Khan" userId="f7175e1d387020b4" providerId="LiveId" clId="{558998BB-1E8F-4DA9-AC39-AD75BAF0E592}" dt="2026-09-11T13:26:16.417" v="62" actId="478"/>
          <ac:spMkLst>
            <pc:docMk/>
            <pc:sldMk cId="0" sldId="263"/>
            <ac:spMk id="4" creationId="{00000000-0000-0000-0000-000000000000}"/>
          </ac:spMkLst>
        </pc:spChg>
        <pc:spChg chg="del mod">
          <ac:chgData name="Jarrar Khan" userId="f7175e1d387020b4" providerId="LiveId" clId="{558998BB-1E8F-4DA9-AC39-AD75BAF0E592}" dt="2026-09-11T13:26:19.688" v="63" actId="478"/>
          <ac:spMkLst>
            <pc:docMk/>
            <pc:sldMk cId="0" sldId="263"/>
            <ac:spMk id="5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6:09.497" v="61" actId="403"/>
          <ac:spMkLst>
            <pc:docMk/>
            <pc:sldMk cId="0" sldId="263"/>
            <ac:spMk id="7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6:09.497" v="61" actId="403"/>
          <ac:spMkLst>
            <pc:docMk/>
            <pc:sldMk cId="0" sldId="263"/>
            <ac:spMk id="8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6:09.497" v="61" actId="403"/>
          <ac:spMkLst>
            <pc:docMk/>
            <pc:sldMk cId="0" sldId="263"/>
            <ac:spMk id="9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6:09.497" v="61" actId="403"/>
          <ac:spMkLst>
            <pc:docMk/>
            <pc:sldMk cId="0" sldId="263"/>
            <ac:spMk id="10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6:09.497" v="61" actId="403"/>
          <ac:spMkLst>
            <pc:docMk/>
            <pc:sldMk cId="0" sldId="263"/>
            <ac:spMk id="12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6:09.497" v="61" actId="403"/>
          <ac:spMkLst>
            <pc:docMk/>
            <pc:sldMk cId="0" sldId="263"/>
            <ac:spMk id="13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6:09.497" v="61" actId="403"/>
          <ac:spMkLst>
            <pc:docMk/>
            <pc:sldMk cId="0" sldId="263"/>
            <ac:spMk id="14" creationId="{00000000-0000-0000-0000-000000000000}"/>
          </ac:spMkLst>
        </pc:spChg>
      </pc:sldChg>
      <pc:sldChg chg="delSp modSp mod modTransition">
        <pc:chgData name="Jarrar Khan" userId="f7175e1d387020b4" providerId="LiveId" clId="{558998BB-1E8F-4DA9-AC39-AD75BAF0E592}" dt="2026-09-11T13:43:42.164" v="168"/>
        <pc:sldMkLst>
          <pc:docMk/>
          <pc:sldMk cId="0" sldId="264"/>
        </pc:sldMkLst>
        <pc:spChg chg="del">
          <ac:chgData name="Jarrar Khan" userId="f7175e1d387020b4" providerId="LiveId" clId="{558998BB-1E8F-4DA9-AC39-AD75BAF0E592}" dt="2026-09-11T13:25:52.753" v="58" actId="478"/>
          <ac:spMkLst>
            <pc:docMk/>
            <pc:sldMk cId="0" sldId="264"/>
            <ac:spMk id="4" creationId="{00000000-0000-0000-0000-000000000000}"/>
          </ac:spMkLst>
        </pc:spChg>
        <pc:spChg chg="del mod">
          <ac:chgData name="Jarrar Khan" userId="f7175e1d387020b4" providerId="LiveId" clId="{558998BB-1E8F-4DA9-AC39-AD75BAF0E592}" dt="2026-09-11T13:25:55.307" v="59" actId="478"/>
          <ac:spMkLst>
            <pc:docMk/>
            <pc:sldMk cId="0" sldId="264"/>
            <ac:spMk id="5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5:45.163" v="57" actId="403"/>
          <ac:spMkLst>
            <pc:docMk/>
            <pc:sldMk cId="0" sldId="264"/>
            <ac:spMk id="10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5:45.163" v="57" actId="403"/>
          <ac:spMkLst>
            <pc:docMk/>
            <pc:sldMk cId="0" sldId="264"/>
            <ac:spMk id="11" creationId="{00000000-0000-0000-0000-000000000000}"/>
          </ac:spMkLst>
        </pc:spChg>
      </pc:sldChg>
      <pc:sldChg chg="delSp modSp mod modTransition">
        <pc:chgData name="Jarrar Khan" userId="f7175e1d387020b4" providerId="LiveId" clId="{558998BB-1E8F-4DA9-AC39-AD75BAF0E592}" dt="2026-09-11T13:43:48.901" v="169"/>
        <pc:sldMkLst>
          <pc:docMk/>
          <pc:sldMk cId="0" sldId="265"/>
        </pc:sldMkLst>
        <pc:spChg chg="del">
          <ac:chgData name="Jarrar Khan" userId="f7175e1d387020b4" providerId="LiveId" clId="{558998BB-1E8F-4DA9-AC39-AD75BAF0E592}" dt="2026-09-11T13:25:17.714" v="55" actId="478"/>
          <ac:spMkLst>
            <pc:docMk/>
            <pc:sldMk cId="0" sldId="265"/>
            <ac:spMk id="4" creationId="{00000000-0000-0000-0000-000000000000}"/>
          </ac:spMkLst>
        </pc:spChg>
        <pc:spChg chg="del">
          <ac:chgData name="Jarrar Khan" userId="f7175e1d387020b4" providerId="LiveId" clId="{558998BB-1E8F-4DA9-AC39-AD75BAF0E592}" dt="2026-09-11T13:25:20.562" v="56" actId="478"/>
          <ac:spMkLst>
            <pc:docMk/>
            <pc:sldMk cId="0" sldId="265"/>
            <ac:spMk id="5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5:05.422" v="54" actId="404"/>
          <ac:spMkLst>
            <pc:docMk/>
            <pc:sldMk cId="0" sldId="265"/>
            <ac:spMk id="10" creationId="{00000000-0000-0000-0000-000000000000}"/>
          </ac:spMkLst>
        </pc:spChg>
      </pc:sldChg>
      <pc:sldChg chg="delSp modSp mod modTransition">
        <pc:chgData name="Jarrar Khan" userId="f7175e1d387020b4" providerId="LiveId" clId="{558998BB-1E8F-4DA9-AC39-AD75BAF0E592}" dt="2026-09-11T13:43:53.373" v="170"/>
        <pc:sldMkLst>
          <pc:docMk/>
          <pc:sldMk cId="0" sldId="266"/>
        </pc:sldMkLst>
        <pc:spChg chg="del">
          <ac:chgData name="Jarrar Khan" userId="f7175e1d387020b4" providerId="LiveId" clId="{558998BB-1E8F-4DA9-AC39-AD75BAF0E592}" dt="2026-09-11T13:23:25.715" v="38" actId="478"/>
          <ac:spMkLst>
            <pc:docMk/>
            <pc:sldMk cId="0" sldId="266"/>
            <ac:spMk id="4" creationId="{00000000-0000-0000-0000-000000000000}"/>
          </ac:spMkLst>
        </pc:spChg>
        <pc:spChg chg="del">
          <ac:chgData name="Jarrar Khan" userId="f7175e1d387020b4" providerId="LiveId" clId="{558998BB-1E8F-4DA9-AC39-AD75BAF0E592}" dt="2026-09-11T13:23:27.746" v="39" actId="478"/>
          <ac:spMkLst>
            <pc:docMk/>
            <pc:sldMk cId="0" sldId="266"/>
            <ac:spMk id="5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4:40.332" v="51" actId="20577"/>
          <ac:spMkLst>
            <pc:docMk/>
            <pc:sldMk cId="0" sldId="266"/>
            <ac:spMk id="10" creationId="{00000000-0000-0000-0000-000000000000}"/>
          </ac:spMkLst>
        </pc:spChg>
      </pc:sldChg>
      <pc:sldChg chg="delSp modSp mod modTransition">
        <pc:chgData name="Jarrar Khan" userId="f7175e1d387020b4" providerId="LiveId" clId="{558998BB-1E8F-4DA9-AC39-AD75BAF0E592}" dt="2026-09-11T13:44:02.099" v="171"/>
        <pc:sldMkLst>
          <pc:docMk/>
          <pc:sldMk cId="0" sldId="267"/>
        </pc:sldMkLst>
        <pc:spChg chg="del">
          <ac:chgData name="Jarrar Khan" userId="f7175e1d387020b4" providerId="LiveId" clId="{558998BB-1E8F-4DA9-AC39-AD75BAF0E592}" dt="2026-09-11T13:22:47.771" v="35" actId="478"/>
          <ac:spMkLst>
            <pc:docMk/>
            <pc:sldMk cId="0" sldId="267"/>
            <ac:spMk id="4" creationId="{00000000-0000-0000-0000-000000000000}"/>
          </ac:spMkLst>
        </pc:spChg>
        <pc:spChg chg="del">
          <ac:chgData name="Jarrar Khan" userId="f7175e1d387020b4" providerId="LiveId" clId="{558998BB-1E8F-4DA9-AC39-AD75BAF0E592}" dt="2026-09-11T13:22:44.545" v="34" actId="478"/>
          <ac:spMkLst>
            <pc:docMk/>
            <pc:sldMk cId="0" sldId="267"/>
            <ac:spMk id="5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2:35.860" v="33" actId="403"/>
          <ac:spMkLst>
            <pc:docMk/>
            <pc:sldMk cId="0" sldId="267"/>
            <ac:spMk id="10" creationId="{00000000-0000-0000-0000-000000000000}"/>
          </ac:spMkLst>
        </pc:spChg>
      </pc:sldChg>
      <pc:sldChg chg="delSp modSp mod modTransition">
        <pc:chgData name="Jarrar Khan" userId="f7175e1d387020b4" providerId="LiveId" clId="{558998BB-1E8F-4DA9-AC39-AD75BAF0E592}" dt="2026-09-11T13:44:09.140" v="172"/>
        <pc:sldMkLst>
          <pc:docMk/>
          <pc:sldMk cId="0" sldId="268"/>
        </pc:sldMkLst>
        <pc:spChg chg="mod">
          <ac:chgData name="Jarrar Khan" userId="f7175e1d387020b4" providerId="LiveId" clId="{558998BB-1E8F-4DA9-AC39-AD75BAF0E592}" dt="2026-09-11T13:21:40.987" v="26" actId="403"/>
          <ac:spMkLst>
            <pc:docMk/>
            <pc:sldMk cId="0" sldId="268"/>
            <ac:spMk id="3" creationId="{00000000-0000-0000-0000-000000000000}"/>
          </ac:spMkLst>
        </pc:spChg>
        <pc:spChg chg="del mod">
          <ac:chgData name="Jarrar Khan" userId="f7175e1d387020b4" providerId="LiveId" clId="{558998BB-1E8F-4DA9-AC39-AD75BAF0E592}" dt="2026-09-11T13:23:14.553" v="37" actId="478"/>
          <ac:spMkLst>
            <pc:docMk/>
            <pc:sldMk cId="0" sldId="268"/>
            <ac:spMk id="4" creationId="{00000000-0000-0000-0000-000000000000}"/>
          </ac:spMkLst>
        </pc:spChg>
        <pc:spChg chg="del mod">
          <ac:chgData name="Jarrar Khan" userId="f7175e1d387020b4" providerId="LiveId" clId="{558998BB-1E8F-4DA9-AC39-AD75BAF0E592}" dt="2026-09-11T13:23:12.281" v="36" actId="478"/>
          <ac:spMkLst>
            <pc:docMk/>
            <pc:sldMk cId="0" sldId="268"/>
            <ac:spMk id="5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1:57.329" v="29" actId="122"/>
          <ac:spMkLst>
            <pc:docMk/>
            <pc:sldMk cId="0" sldId="268"/>
            <ac:spMk id="7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1:57.329" v="29" actId="122"/>
          <ac:spMkLst>
            <pc:docMk/>
            <pc:sldMk cId="0" sldId="268"/>
            <ac:spMk id="8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1:57.329" v="29" actId="122"/>
          <ac:spMkLst>
            <pc:docMk/>
            <pc:sldMk cId="0" sldId="268"/>
            <ac:spMk id="9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1:57.329" v="29" actId="122"/>
          <ac:spMkLst>
            <pc:docMk/>
            <pc:sldMk cId="0" sldId="268"/>
            <ac:spMk id="10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1:57.329" v="29" actId="122"/>
          <ac:spMkLst>
            <pc:docMk/>
            <pc:sldMk cId="0" sldId="268"/>
            <ac:spMk id="11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1:57.329" v="29" actId="122"/>
          <ac:spMkLst>
            <pc:docMk/>
            <pc:sldMk cId="0" sldId="268"/>
            <ac:spMk id="12" creationId="{00000000-0000-0000-0000-000000000000}"/>
          </ac:spMkLst>
        </pc:spChg>
      </pc:sldChg>
      <pc:sldChg chg="delSp modSp mod modTransition">
        <pc:chgData name="Jarrar Khan" userId="f7175e1d387020b4" providerId="LiveId" clId="{558998BB-1E8F-4DA9-AC39-AD75BAF0E592}" dt="2026-09-11T13:44:14.668" v="173"/>
        <pc:sldMkLst>
          <pc:docMk/>
          <pc:sldMk cId="0" sldId="269"/>
        </pc:sldMkLst>
        <pc:spChg chg="del">
          <ac:chgData name="Jarrar Khan" userId="f7175e1d387020b4" providerId="LiveId" clId="{558998BB-1E8F-4DA9-AC39-AD75BAF0E592}" dt="2026-09-11T13:17:46.500" v="15" actId="478"/>
          <ac:spMkLst>
            <pc:docMk/>
            <pc:sldMk cId="0" sldId="269"/>
            <ac:spMk id="4" creationId="{00000000-0000-0000-0000-000000000000}"/>
          </ac:spMkLst>
        </pc:spChg>
        <pc:spChg chg="del">
          <ac:chgData name="Jarrar Khan" userId="f7175e1d387020b4" providerId="LiveId" clId="{558998BB-1E8F-4DA9-AC39-AD75BAF0E592}" dt="2026-09-11T13:17:54.960" v="16" actId="478"/>
          <ac:spMkLst>
            <pc:docMk/>
            <pc:sldMk cId="0" sldId="269"/>
            <ac:spMk id="5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1:18.956" v="24" actId="207"/>
          <ac:spMkLst>
            <pc:docMk/>
            <pc:sldMk cId="0" sldId="269"/>
            <ac:spMk id="6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0:41.019" v="21" actId="123"/>
          <ac:spMkLst>
            <pc:docMk/>
            <pc:sldMk cId="0" sldId="269"/>
            <ac:spMk id="7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0:41.019" v="21" actId="123"/>
          <ac:spMkLst>
            <pc:docMk/>
            <pc:sldMk cId="0" sldId="269"/>
            <ac:spMk id="8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0:41.019" v="21" actId="123"/>
          <ac:spMkLst>
            <pc:docMk/>
            <pc:sldMk cId="0" sldId="269"/>
            <ac:spMk id="9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0:41.019" v="21" actId="123"/>
          <ac:spMkLst>
            <pc:docMk/>
            <pc:sldMk cId="0" sldId="269"/>
            <ac:spMk id="10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0:41.019" v="21" actId="123"/>
          <ac:spMkLst>
            <pc:docMk/>
            <pc:sldMk cId="0" sldId="269"/>
            <ac:spMk id="11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20:41.019" v="21" actId="123"/>
          <ac:spMkLst>
            <pc:docMk/>
            <pc:sldMk cId="0" sldId="269"/>
            <ac:spMk id="12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17:27.218" v="14" actId="20577"/>
          <ac:spMkLst>
            <pc:docMk/>
            <pc:sldMk cId="0" sldId="269"/>
            <ac:spMk id="14" creationId="{00000000-0000-0000-0000-000000000000}"/>
          </ac:spMkLst>
        </pc:spChg>
      </pc:sldChg>
      <pc:sldChg chg="new del ord">
        <pc:chgData name="Jarrar Khan" userId="f7175e1d387020b4" providerId="LiveId" clId="{558998BB-1E8F-4DA9-AC39-AD75BAF0E592}" dt="2026-09-11T13:34:54.721" v="107" actId="2696"/>
        <pc:sldMkLst>
          <pc:docMk/>
          <pc:sldMk cId="1303042098" sldId="270"/>
        </pc:sldMkLst>
      </pc:sldChg>
      <pc:sldChg chg="modSp add mod modTransition">
        <pc:chgData name="Jarrar Khan" userId="f7175e1d387020b4" providerId="LiveId" clId="{558998BB-1E8F-4DA9-AC39-AD75BAF0E592}" dt="2026-09-11T13:42:12.644" v="152"/>
        <pc:sldMkLst>
          <pc:docMk/>
          <pc:sldMk cId="0" sldId="295"/>
        </pc:sldMkLst>
        <pc:spChg chg="mod">
          <ac:chgData name="Jarrar Khan" userId="f7175e1d387020b4" providerId="LiveId" clId="{558998BB-1E8F-4DA9-AC39-AD75BAF0E592}" dt="2026-09-11T13:41:33.684" v="146" actId="20577"/>
          <ac:spMkLst>
            <pc:docMk/>
            <pc:sldMk cId="0" sldId="295"/>
            <ac:spMk id="2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34:46.444" v="106"/>
          <ac:spMkLst>
            <pc:docMk/>
            <pc:sldMk cId="0" sldId="295"/>
            <ac:spMk id="4" creationId="{00000000-0000-0000-0000-000000000000}"/>
          </ac:spMkLst>
        </pc:spChg>
        <pc:spChg chg="mod">
          <ac:chgData name="Jarrar Khan" userId="f7175e1d387020b4" providerId="LiveId" clId="{558998BB-1E8F-4DA9-AC39-AD75BAF0E592}" dt="2026-09-11T13:41:10.077" v="145" actId="1076"/>
          <ac:spMkLst>
            <pc:docMk/>
            <pc:sldMk cId="0" sldId="295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342851-F3F9-4BE9-8A0A-54C98F961707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235DB-8009-4178-B325-82E6784E4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181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DFAE99-2354-43A9-B741-C174AEC3E58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S. B. Jain Institute of Technology Management and research</a:t>
            </a:r>
          </a:p>
        </p:txBody>
      </p:sp>
    </p:spTree>
    <p:extLst>
      <p:ext uri="{BB962C8B-B14F-4D97-AF65-F5344CB8AC3E}">
        <p14:creationId xmlns:p14="http://schemas.microsoft.com/office/powerpoint/2010/main" val="1849671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154630"/>
            <a:ext cx="8305800" cy="444480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TAE-1 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Project Based Learning 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PCA-Based Feature Reduction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course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Recognition(N-PECCM703T)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2209800" y="3342192"/>
            <a:ext cx="2743200" cy="150490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Jarrar Khan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stomShape 3"/>
          <p:cNvSpPr/>
          <p:nvPr/>
        </p:nvSpPr>
        <p:spPr>
          <a:xfrm>
            <a:off x="6829425" y="3277000"/>
            <a:ext cx="3409950" cy="122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Mayuri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Getme</a:t>
            </a:r>
            <a:endParaRPr lang="en-I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stomShape 5"/>
          <p:cNvSpPr/>
          <p:nvPr/>
        </p:nvSpPr>
        <p:spPr>
          <a:xfrm>
            <a:off x="2971800" y="4648200"/>
            <a:ext cx="6629040" cy="397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Session:2026-27 (ODD )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CSE(AI&amp;ML)</a:t>
            </a:r>
          </a:p>
          <a:p>
            <a:pPr>
              <a:lnSpc>
                <a:spcPct val="100000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stomShape 4"/>
          <p:cNvSpPr/>
          <p:nvPr/>
        </p:nvSpPr>
        <p:spPr>
          <a:xfrm>
            <a:off x="1981200" y="5334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3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     </a:t>
            </a: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ea typeface="DejaVu Sans"/>
                <a:cs typeface="Times New Roman" pitchFamily="18" charset="0"/>
              </a:rPr>
              <a:t>S. B. JAIN INSTITUTE OF TECHNOLOGY MANAGEMENT AND RESEARCH,NAGPUR</a:t>
            </a:r>
          </a:p>
          <a:p>
            <a:pPr algn="ctr">
              <a:lnSpc>
                <a:spcPct val="93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 Autonomous Institute, Affiliated to RTMNU, Nagpur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PROJECT LAB\Desktop\College 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2575" y="3286618"/>
            <a:ext cx="1466850" cy="1066801"/>
          </a:xfrm>
          <a:prstGeom prst="rect">
            <a:avLst/>
          </a:prstGeom>
          <a:noFill/>
        </p:spPr>
      </p:pic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spc="-5"/>
              <a:t>S. B. Jain Institute of Technology Management and research</a:t>
            </a:r>
            <a:endParaRPr lang="en-US" sz="1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2000" cy="146304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50000"/>
            <a:ext cx="1118628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22F4E"/>
                </a:solidFill>
                <a:latin typeface="Times New Roman"/>
              </a:defRPr>
            </a:pPr>
            <a:r>
              <a:t>Problem Statement &amp; Project Motivation</a:t>
            </a:r>
          </a:p>
          <a:p>
            <a:pPr>
              <a:spcBef>
                <a:spcPts val="300"/>
              </a:spcBef>
              <a:defRPr sz="1300">
                <a:solidFill>
                  <a:srgbClr val="46505F"/>
                </a:solidFill>
                <a:latin typeface="Times New Roman"/>
              </a:defRPr>
            </a:pPr>
            <a:r>
              <a:t>Addressing high-dimensional audio feature complexity and enabling intuitive music pattern 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50000"/>
            <a:ext cx="3520000" cy="53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652920" y="1100000"/>
            <a:ext cx="3220000" cy="4473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22F4E"/>
                </a:solidFill>
                <a:latin typeface="Times New Roman"/>
              </a:defRPr>
            </a:pPr>
            <a:r>
              <a:rPr sz="2000"/>
              <a:t>The Real-World Challenge</a:t>
            </a:r>
          </a:p>
          <a:p>
            <a:pPr>
              <a:spcBef>
                <a:spcPts val="1200"/>
              </a:spcBef>
              <a:defRPr sz="1300" b="1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High Dimensionality:</a:t>
            </a:r>
          </a:p>
          <a:p>
            <a:pPr>
              <a:spcBef>
                <a:spcPts val="200"/>
              </a:spcBef>
              <a:defRPr sz="120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   Modern streaming platforms describe tracks using numerous acoustic features (danceability, energy, tempo, loudness, etc.).</a:t>
            </a:r>
          </a:p>
          <a:p>
            <a:pPr>
              <a:spcBef>
                <a:spcPts val="1200"/>
              </a:spcBef>
              <a:defRPr sz="1300" b="1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Feature Redundancy:</a:t>
            </a:r>
          </a:p>
          <a:p>
            <a:pPr>
              <a:spcBef>
                <a:spcPts val="200"/>
              </a:spcBef>
              <a:defRPr sz="120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   Many audio dimensions are heavily correlated (e.g. loud songs are almost always high energy), creating repetitive information.</a:t>
            </a:r>
          </a:p>
          <a:p>
            <a:pPr>
              <a:spcBef>
                <a:spcPts val="1200"/>
              </a:spcBef>
              <a:defRPr sz="1300" b="1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Curse of Dimensionality:</a:t>
            </a:r>
          </a:p>
          <a:p>
            <a:pPr>
              <a:spcBef>
                <a:spcPts val="200"/>
              </a:spcBef>
              <a:defRPr sz="120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   Analyzing 9+ dimensions simultaneously increases distance sparsity and slows down algorithmic grouping.</a:t>
            </a:r>
          </a:p>
          <a:p>
            <a:pPr>
              <a:spcBef>
                <a:spcPts val="1200"/>
              </a:spcBef>
              <a:defRPr sz="1300" b="1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No Direct 2D View:</a:t>
            </a:r>
          </a:p>
          <a:p>
            <a:pPr>
              <a:spcBef>
                <a:spcPts val="200"/>
              </a:spcBef>
              <a:defRPr sz="120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   Humans cannot visualize 9 dimensions at once. Important musical clusters remain invisible without projection.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2920" y="950000"/>
            <a:ext cx="3520000" cy="53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27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482920" y="1100000"/>
            <a:ext cx="3220000" cy="4683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22F4E"/>
                </a:solidFill>
                <a:latin typeface="Times New Roman"/>
              </a:defRPr>
            </a:pPr>
            <a:r>
              <a:rPr sz="2000" dirty="0"/>
              <a:t>Central Research Question</a:t>
            </a:r>
          </a:p>
          <a:p>
            <a:pPr>
              <a:spcBef>
                <a:spcPts val="1600"/>
              </a:spcBef>
              <a:defRPr sz="1400" b="1" i="1">
                <a:solidFill>
                  <a:srgbClr val="0033CC"/>
                </a:solidFill>
                <a:latin typeface="Times New Roman"/>
              </a:defRPr>
            </a:pPr>
            <a:r>
              <a:rPr sz="1600" dirty="0">
                <a:solidFill>
                  <a:schemeClr val="tx2"/>
                </a:solidFill>
              </a:rPr>
              <a:t>"How can Principal Component Analysis (PCA) reduce multi-dimensional Spotify audio features into a compact representation while retaining critical musical variance and exposing natural song clusters?"</a:t>
            </a:r>
          </a:p>
          <a:p>
            <a:pPr>
              <a:spcBef>
                <a:spcPts val="1800"/>
              </a:spcBef>
              <a:defRPr sz="130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Key Hypotheses Explored:</a:t>
            </a:r>
          </a:p>
          <a:p>
            <a:pPr>
              <a:spcBef>
                <a:spcPts val="800"/>
              </a:spcBef>
              <a:defRPr sz="1200">
                <a:solidFill>
                  <a:srgbClr val="46505F"/>
                </a:solidFill>
                <a:latin typeface="Times New Roman"/>
              </a:defRPr>
            </a:pPr>
            <a:r>
              <a:rPr sz="1400" dirty="0"/>
              <a:t>✔ A small subset of orthogonal components can preserve over 90% of total acoustic information.</a:t>
            </a:r>
          </a:p>
          <a:p>
            <a:pPr>
              <a:spcBef>
                <a:spcPts val="800"/>
              </a:spcBef>
              <a:defRPr sz="1200">
                <a:solidFill>
                  <a:srgbClr val="46505F"/>
                </a:solidFill>
                <a:latin typeface="Times New Roman"/>
              </a:defRPr>
            </a:pPr>
            <a:r>
              <a:rPr sz="1400" dirty="0"/>
              <a:t>✔ A 2D projection (PC1 vs PC2) is sufficient to visually separate major music moods and intensities.</a:t>
            </a:r>
          </a:p>
          <a:p>
            <a:pPr>
              <a:spcBef>
                <a:spcPts val="800"/>
              </a:spcBef>
              <a:defRPr sz="1200">
                <a:solidFill>
                  <a:srgbClr val="46505F"/>
                </a:solidFill>
                <a:latin typeface="Times New Roman"/>
              </a:defRPr>
            </a:pPr>
            <a:r>
              <a:rPr sz="1400" dirty="0"/>
              <a:t>✔ Unsupervised clustering on reduced PCA features yields natural, genre-aligned musical groups without manual tags.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2920" y="950000"/>
            <a:ext cx="3520000" cy="53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8312920" y="1100000"/>
            <a:ext cx="3220000" cy="38574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22F4E"/>
                </a:solidFill>
                <a:latin typeface="Times New Roman"/>
              </a:defRPr>
            </a:pPr>
            <a:r>
              <a:rPr sz="2000"/>
              <a:t>Core Project Objectives</a:t>
            </a:r>
          </a:p>
          <a:p>
            <a:pPr>
              <a:spcBef>
                <a:spcPts val="800"/>
              </a:spcBef>
              <a:defRPr sz="1300" b="1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1. Data Cleansing: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/>
              <a:t>   Audit 114K tracks, eliminate playlist duplicates, and standardize features.</a:t>
            </a:r>
          </a:p>
          <a:p>
            <a:pPr>
              <a:spcBef>
                <a:spcPts val="800"/>
              </a:spcBef>
              <a:defRPr sz="1300" b="1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2. PCA Transformation: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/>
              <a:t>   Transform 9 continuous features into uncorrelated components with &gt;=90% variance.</a:t>
            </a:r>
          </a:p>
          <a:p>
            <a:pPr>
              <a:spcBef>
                <a:spcPts val="800"/>
              </a:spcBef>
              <a:defRPr sz="1300" b="1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3. Scree &amp; Error Study: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/>
              <a:t>   Evaluate reconstruction MSE across component counts (2, 4, 7 PCs).</a:t>
            </a:r>
          </a:p>
          <a:p>
            <a:pPr>
              <a:spcBef>
                <a:spcPts val="800"/>
              </a:spcBef>
              <a:defRPr sz="1300" b="1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4. K-Means Clustering: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/>
              <a:t>   Apply unsupervised clustering to discover distinct acoustic song profiles.</a:t>
            </a:r>
          </a:p>
          <a:p>
            <a:pPr>
              <a:spcBef>
                <a:spcPts val="800"/>
              </a:spcBef>
              <a:defRPr sz="1300" b="1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5. Interactive Web App: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/>
              <a:t>   Deploy a live Streamlit application with 2D/3D visualizers and track recommender.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2000" cy="146304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502920" y="250000"/>
            <a:ext cx="1118628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22F4E"/>
                </a:solidFill>
                <a:latin typeface="Times New Roman"/>
              </a:defRPr>
            </a:pPr>
            <a:r>
              <a:t>Phase 1 Recap: Conceptual Foundations &amp; Audio Features</a:t>
            </a:r>
          </a:p>
          <a:p>
            <a:pPr>
              <a:spcBef>
                <a:spcPts val="300"/>
              </a:spcBef>
              <a:defRPr sz="1300">
                <a:solidFill>
                  <a:srgbClr val="46505F"/>
                </a:solidFill>
                <a:latin typeface="Times New Roman"/>
              </a:defRPr>
            </a:pPr>
            <a:r>
              <a:t>Summary of initial assessment: Dimensionality reduction principles, audio registers, and project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50000"/>
            <a:ext cx="5450000" cy="25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682920" y="1090000"/>
            <a:ext cx="5090000" cy="21082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22F4E"/>
                </a:solidFill>
                <a:latin typeface="Times New Roman"/>
              </a:defRPr>
            </a:pPr>
            <a:r>
              <a:rPr dirty="0"/>
              <a:t>1. Dimensionality Reduction Principles</a:t>
            </a:r>
          </a:p>
          <a:p>
            <a:pPr>
              <a:spcBef>
                <a:spcPts val="6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 dirty="0"/>
              <a:t>• Information Simplification: Complex datasets often have more features than necessary. Reduction simplifies data without destroying the underlying patterns.</a:t>
            </a:r>
            <a:endParaRPr lang="en-US" sz="1200" dirty="0"/>
          </a:p>
          <a:p>
            <a:pPr>
              <a:spcBef>
                <a:spcPts val="6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endParaRPr sz="1200" dirty="0"/>
          </a:p>
          <a:p>
            <a:pPr>
              <a:spcBef>
                <a:spcPts val="6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 dirty="0"/>
              <a:t>• Mitigating the Curse: High-dimensional spaces suffer from sparsity, making similarity measurements and distance-based clustering inaccurate</a:t>
            </a:r>
            <a:endParaRPr lang="en-US" sz="1200" dirty="0"/>
          </a:p>
          <a:p>
            <a:pPr>
              <a:spcBef>
                <a:spcPts val="6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 dirty="0"/>
              <a:t>.</a:t>
            </a:r>
          </a:p>
          <a:p>
            <a:pPr>
              <a:spcBef>
                <a:spcPts val="6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 dirty="0"/>
              <a:t>• Enabling Visualization: Human perception is confined to 2D and 3D. Reducing dimensions allows direct visual inspection of music clusters.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9200" y="950000"/>
            <a:ext cx="5450000" cy="25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419200" y="1090000"/>
            <a:ext cx="5090000" cy="19800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22F4E"/>
                </a:solidFill>
                <a:latin typeface="Times New Roman"/>
              </a:defRPr>
            </a:pPr>
            <a:r>
              <a:rPr dirty="0"/>
              <a:t>2. Feature Selection vs. Feature Extraction (PCA)</a:t>
            </a:r>
          </a:p>
          <a:p>
            <a:pPr>
              <a:spcBef>
                <a:spcPts val="5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 dirty="0"/>
              <a:t>• Feature Selection (Discarding): Simply picking 2 or 3 existing features throws away all information contained in the discarded columns.</a:t>
            </a:r>
          </a:p>
          <a:p>
            <a:pPr>
              <a:spcBef>
                <a:spcPts val="5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 dirty="0"/>
              <a:t>• PCA Feature Extraction (Combining): PCA computes new composite axes (Principal Components) that blend contributions from ALL original features.</a:t>
            </a:r>
          </a:p>
          <a:p>
            <a:pPr>
              <a:spcBef>
                <a:spcPts val="5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 dirty="0"/>
              <a:t>• Maximum Variance Retention: PC1 captures the highest variance direction; PC2 captures the second highest perpendicular direction.</a:t>
            </a:r>
          </a:p>
          <a:p>
            <a:pPr>
              <a:spcBef>
                <a:spcPts val="5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 dirty="0"/>
              <a:t>• Why Chosen for Project: PCA ensures that energy, danceability, </a:t>
            </a:r>
            <a:r>
              <a:rPr sz="1200" dirty="0" err="1"/>
              <a:t>acousticness</a:t>
            </a:r>
            <a:r>
              <a:rPr sz="1200" dirty="0"/>
              <a:t>, and tempo all contribute to the final representation.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80000"/>
            <a:ext cx="5450000" cy="25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82920" y="3820000"/>
            <a:ext cx="5090000" cy="19800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22F4E"/>
                </a:solidFill>
                <a:latin typeface="Times New Roman"/>
              </a:defRPr>
            </a:pPr>
            <a:r>
              <a:t>3. The 9 Selected Continuous Audio Features</a:t>
            </a:r>
          </a:p>
          <a:p>
            <a:pPr>
              <a:spcBef>
                <a:spcPts val="5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/>
              <a:t>• Rhythmic &amp; Movement: Danceability (0-1), Tempo (BPM, typically 60-200), Energy (0-1 perceptual intensity).</a:t>
            </a:r>
          </a:p>
          <a:p>
            <a:pPr>
              <a:spcBef>
                <a:spcPts val="5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/>
              <a:t>• Perceptual Acoustics: Loudness (dB, -60 to 0), Acousticness (0-1 acoustic confidence), Instrumentalness (0-1 vocal absence).</a:t>
            </a:r>
          </a:p>
          <a:p>
            <a:pPr>
              <a:spcBef>
                <a:spcPts val="5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/>
              <a:t>• Atmospheric &amp; Mood: Valence (0-1 musical cheerfulness/positiveness), Liveness (0-1 presence of live audience), Speechiness (0-1 spoken words).</a:t>
            </a:r>
          </a:p>
          <a:p>
            <a:pPr>
              <a:spcBef>
                <a:spcPts val="5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/>
              <a:t>• Excluded Metadata: Track IDs, artists, albums, and popularity were excluded from PCA to focus strictly on pure audio characteristics.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9199" y="3679999"/>
            <a:ext cx="5520181" cy="2651725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6419200" y="3820000"/>
            <a:ext cx="5090000" cy="23980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22F4E"/>
                </a:solidFill>
                <a:latin typeface="Times New Roman"/>
              </a:defRPr>
            </a:pPr>
            <a:r>
              <a:t>4. Proposed Phase 1 Implementation Plan</a:t>
            </a:r>
          </a:p>
          <a:p>
            <a:pPr>
              <a:spcBef>
                <a:spcPts val="5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/>
              <a:t>• Step 1: Dataset Cleaning: Download Spotify 114K tracks dataset, audit missing values and duplicate rows.</a:t>
            </a:r>
          </a:p>
          <a:p>
            <a:pPr>
              <a:spcBef>
                <a:spcPts val="5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/>
              <a:t>• Step 2: Scaling: Apply StandardScaler so differing units (dB, BPM, ratios) do not bias PCA.</a:t>
            </a:r>
          </a:p>
          <a:p>
            <a:pPr>
              <a:spcBef>
                <a:spcPts val="5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/>
              <a:t>• Step 3: Component Selection: Calculate cumulative explained variance to identify components retaining &gt;=90% info.</a:t>
            </a:r>
          </a:p>
          <a:p>
            <a:pPr>
              <a:spcBef>
                <a:spcPts val="5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/>
              <a:t>• Step 4: Downstream Clustering: Prepare reduced representation for Phase 3 K-Means clustering and web visualization.</a:t>
            </a:r>
          </a:p>
          <a:p>
            <a:pPr>
              <a:spcBef>
                <a:spcPts val="5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/>
              <a:t>• Phase 1 Deliverable: Conceptual foundation, methodology approval, and initial repository setup.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2000" cy="146304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50000"/>
            <a:ext cx="1118628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22F4E"/>
                </a:solidFill>
                <a:latin typeface="Times New Roman"/>
              </a:defRPr>
            </a:pPr>
            <a:r>
              <a:t>Phase 2 Recap: Data Preprocessing &amp; PCA Transformation</a:t>
            </a:r>
          </a:p>
          <a:p>
            <a:pPr>
              <a:spcBef>
                <a:spcPts val="300"/>
              </a:spcBef>
              <a:defRPr sz="1300">
                <a:solidFill>
                  <a:srgbClr val="46505F"/>
                </a:solidFill>
                <a:latin typeface="Times New Roman"/>
              </a:defRPr>
            </a:pPr>
            <a:r>
              <a:t>Summary of Phase 2 execution: 114K deduplication, feature standardization, and 94.81% variance retention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50000"/>
            <a:ext cx="3520000" cy="53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920" y="1100000"/>
            <a:ext cx="3220000" cy="39395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22F4E"/>
                </a:solidFill>
                <a:latin typeface="Times New Roman"/>
              </a:defRPr>
            </a:pPr>
            <a:r>
              <a:rPr dirty="0"/>
              <a:t>1. Data Audit &amp; Deduplication</a:t>
            </a:r>
          </a:p>
          <a:p>
            <a:pPr>
              <a:spcBef>
                <a:spcPts val="10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dirty="0"/>
              <a:t>• </a:t>
            </a:r>
            <a:r>
              <a:rPr sz="1400" dirty="0"/>
              <a:t>Raw Input: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114,000 track rows across 20 metadata and audio columns.</a:t>
            </a:r>
          </a:p>
          <a:p>
            <a:pPr>
              <a:spcBef>
                <a:spcPts val="10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Missing Values: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Checked all columns: zero missing values found across all 9 target audio features.</a:t>
            </a:r>
          </a:p>
          <a:p>
            <a:pPr>
              <a:spcBef>
                <a:spcPts val="10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Duplicate Discovery: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Discovered 40,900 rows sharing repeated </a:t>
            </a:r>
            <a:r>
              <a:rPr sz="1200" dirty="0" err="1"/>
              <a:t>track_id</a:t>
            </a:r>
            <a:r>
              <a:rPr sz="1200" dirty="0"/>
              <a:t> values (songs appearing in multiple genre playlists).</a:t>
            </a:r>
          </a:p>
          <a:p>
            <a:pPr>
              <a:spcBef>
                <a:spcPts val="10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100% Identical Features: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Audited duplicate instances: all 9 audio features were 100% identical for the same </a:t>
            </a:r>
            <a:r>
              <a:rPr sz="1200" dirty="0" err="1"/>
              <a:t>track_id</a:t>
            </a:r>
            <a:r>
              <a:rPr sz="1200" dirty="0"/>
              <a:t>.</a:t>
            </a:r>
          </a:p>
          <a:p>
            <a:pPr>
              <a:spcBef>
                <a:spcPts val="10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Cleaned Dataset: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Filtered by unique </a:t>
            </a:r>
            <a:r>
              <a:rPr sz="1200" dirty="0" err="1"/>
              <a:t>track_id</a:t>
            </a:r>
            <a:r>
              <a:rPr sz="1200" dirty="0"/>
              <a:t>, successfully retaining exactly 89,741 distinct tracks.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2920" y="950000"/>
            <a:ext cx="3520000" cy="53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2920" y="1100000"/>
            <a:ext cx="3220000" cy="44012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22F4E"/>
                </a:solidFill>
                <a:latin typeface="Times New Roman"/>
              </a:defRPr>
            </a:pPr>
            <a:r>
              <a:rPr dirty="0"/>
              <a:t>2. Standardization (</a:t>
            </a:r>
            <a:r>
              <a:rPr dirty="0" err="1"/>
              <a:t>StandardScaler</a:t>
            </a:r>
            <a:r>
              <a:rPr dirty="0"/>
              <a:t>)</a:t>
            </a:r>
          </a:p>
          <a:p>
            <a:pPr>
              <a:spcBef>
                <a:spcPts val="10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The Unit Disparity: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Tempo ranges from 0-240 BPM, Loudness spans -60 to 0 dB, while Danceability spans 0 to 1.0.</a:t>
            </a:r>
          </a:p>
          <a:p>
            <a:pPr>
              <a:spcBef>
                <a:spcPts val="10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Why Scaling is Mandatory: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Without scaling, features with large numeric variance (Tempo, Loudness) dominate PCA arbitrarily.</a:t>
            </a:r>
          </a:p>
          <a:p>
            <a:pPr>
              <a:spcBef>
                <a:spcPts val="10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</a:t>
            </a:r>
            <a:r>
              <a:rPr sz="1400" dirty="0" err="1"/>
              <a:t>StandardScaler</a:t>
            </a:r>
            <a:r>
              <a:rPr sz="1400" dirty="0"/>
              <a:t> Applied: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Transformed all 9 features to mean ≈ 0 and standard deviation ≈ 1.0.</a:t>
            </a:r>
          </a:p>
          <a:p>
            <a:pPr>
              <a:spcBef>
                <a:spcPts val="10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Mathematical Balance: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Ensured every musical attribute has an equal opportunity to influence principal components.</a:t>
            </a:r>
          </a:p>
          <a:p>
            <a:pPr>
              <a:spcBef>
                <a:spcPts val="10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Aligned Output: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Created 89,741 × 9 standardized matrix ready for covariance decomposition.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2920" y="950000"/>
            <a:ext cx="3520000" cy="53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2920" y="1100000"/>
            <a:ext cx="3220000" cy="41242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22F4E"/>
                </a:solidFill>
                <a:latin typeface="Times New Roman"/>
              </a:defRPr>
            </a:pPr>
            <a:r>
              <a:rPr dirty="0"/>
              <a:t>3. Phase 2 PCA Key Findings</a:t>
            </a:r>
          </a:p>
          <a:p>
            <a:pPr>
              <a:spcBef>
                <a:spcPts val="10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7 PCs Selected: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Retains 94.81% cumulative variance, safely surpassing the 90% benchmark (6 PCs fell short at 89.74%).</a:t>
            </a:r>
          </a:p>
          <a:p>
            <a:pPr>
              <a:spcBef>
                <a:spcPts val="10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Reconstruction MSE: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Mean Squared Error drops to 0.0519 with 7 PCs (compared to 0.5201 with only 2 PCs).</a:t>
            </a:r>
          </a:p>
          <a:p>
            <a:pPr>
              <a:spcBef>
                <a:spcPts val="10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2D Visual Space: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PC1 and PC2 retain 47.99% variance, ideal for 2D human visual exploration.</a:t>
            </a:r>
          </a:p>
          <a:p>
            <a:pPr>
              <a:spcBef>
                <a:spcPts val="10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Component Insights: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PC1 captures Energy/Loudness intensity; PC2 captures Danceability/Valence mood.</a:t>
            </a:r>
          </a:p>
          <a:p>
            <a:pPr>
              <a:spcBef>
                <a:spcPts val="10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Phase 2 Deliverable: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Saved cleaned PCA reduced data (89,741 × 7) and metadata ready for Phase 3.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2000" cy="146304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50000"/>
            <a:ext cx="1118628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22F4E"/>
                </a:solidFill>
                <a:latin typeface="Times New Roman"/>
              </a:defRPr>
            </a:pPr>
            <a:r>
              <a:t>End-to-End System Pipeline &amp; Architecture</a:t>
            </a:r>
          </a:p>
          <a:p>
            <a:pPr>
              <a:spcBef>
                <a:spcPts val="300"/>
              </a:spcBef>
              <a:defRPr sz="1300">
                <a:solidFill>
                  <a:srgbClr val="46505F"/>
                </a:solidFill>
                <a:latin typeface="Times New Roman"/>
              </a:defRPr>
            </a:pPr>
            <a:r>
              <a:t>A modular 5-stage engineering workflow from raw track ingestion to interactive cloud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00000"/>
            <a:ext cx="2080000" cy="36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652920" y="1280000"/>
            <a:ext cx="1780000" cy="320000"/>
          </a:xfrm>
          <a:prstGeom prst="roundRect">
            <a:avLst/>
          </a:prstGeom>
          <a:solidFill>
            <a:srgbClr val="122F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 sz="1200"/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920" y="1680000"/>
            <a:ext cx="188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122F4E"/>
                </a:solidFill>
                <a:latin typeface="Times New Roman"/>
              </a:defRPr>
            </a:pPr>
            <a:r>
              <a:rPr sz="1400"/>
              <a:t>Raw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920" y="2160000"/>
            <a:ext cx="1800000" cy="1400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114,000 tracks</a:t>
            </a:r>
          </a:p>
          <a:p>
            <a:pPr>
              <a:spcBef>
                <a:spcPts val="14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20 metadata columns</a:t>
            </a:r>
          </a:p>
          <a:p>
            <a:pPr>
              <a:spcBef>
                <a:spcPts val="14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Audited missing values</a:t>
            </a:r>
          </a:p>
          <a:p>
            <a:pPr>
              <a:spcBef>
                <a:spcPts val="14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Filtered duplicates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7920" y="2900000"/>
            <a:ext cx="165000" cy="30000"/>
          </a:xfrm>
          <a:prstGeom prst="rect">
            <a:avLst/>
          </a:prstGeom>
          <a:solidFill>
            <a:srgbClr val="27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Rounded Rectangle 11"/>
          <p:cNvSpPr/>
          <p:nvPr/>
        </p:nvSpPr>
        <p:spPr>
          <a:xfrm>
            <a:off x="2777920" y="1100000"/>
            <a:ext cx="2080000" cy="36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ounded Rectangle 12"/>
          <p:cNvSpPr/>
          <p:nvPr/>
        </p:nvSpPr>
        <p:spPr>
          <a:xfrm>
            <a:off x="2927920" y="1280000"/>
            <a:ext cx="1780000" cy="320000"/>
          </a:xfrm>
          <a:prstGeom prst="roundRect">
            <a:avLst/>
          </a:prstGeom>
          <a:solidFill>
            <a:srgbClr val="122F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 sz="1200"/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7920" y="1680000"/>
            <a:ext cx="188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122F4E"/>
                </a:solidFill>
                <a:latin typeface="Times New Roman"/>
              </a:defRPr>
            </a:pPr>
            <a:r>
              <a:rPr sz="1400"/>
              <a:t>Standardization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7920" y="2160000"/>
            <a:ext cx="1800000" cy="1400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89,741 unique tracks</a:t>
            </a:r>
          </a:p>
          <a:p>
            <a:pPr>
              <a:spcBef>
                <a:spcPts val="14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9 audio features</a:t>
            </a:r>
          </a:p>
          <a:p>
            <a:pPr>
              <a:spcBef>
                <a:spcPts val="14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StandardScaler applied</a:t>
            </a:r>
          </a:p>
          <a:p>
            <a:pPr>
              <a:spcBef>
                <a:spcPts val="14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Mean ≈ 0, Std ≈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2920" y="2900000"/>
            <a:ext cx="165000" cy="30000"/>
          </a:xfrm>
          <a:prstGeom prst="rect">
            <a:avLst/>
          </a:prstGeom>
          <a:solidFill>
            <a:srgbClr val="27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ounded Rectangle 16"/>
          <p:cNvSpPr/>
          <p:nvPr/>
        </p:nvSpPr>
        <p:spPr>
          <a:xfrm>
            <a:off x="5052920" y="1100000"/>
            <a:ext cx="2080000" cy="36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ounded Rectangle 17"/>
          <p:cNvSpPr/>
          <p:nvPr/>
        </p:nvSpPr>
        <p:spPr>
          <a:xfrm>
            <a:off x="5202920" y="1280000"/>
            <a:ext cx="1780000" cy="320000"/>
          </a:xfrm>
          <a:prstGeom prst="roundRect">
            <a:avLst/>
          </a:prstGeom>
          <a:solidFill>
            <a:srgbClr val="122F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 sz="1200"/>
              <a:t>STAGE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2920" y="1680000"/>
            <a:ext cx="188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122F4E"/>
                </a:solidFill>
                <a:latin typeface="Times New Roman"/>
              </a:defRPr>
            </a:pPr>
            <a:r>
              <a:rPr sz="1400"/>
              <a:t>PCA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2920" y="2160000"/>
            <a:ext cx="1800000" cy="1400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Covariance matrix</a:t>
            </a:r>
          </a:p>
          <a:p>
            <a:pPr>
              <a:spcBef>
                <a:spcPts val="14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Eigenvalue sorting</a:t>
            </a:r>
          </a:p>
          <a:p>
            <a:pPr>
              <a:spcBef>
                <a:spcPts val="14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9D → 7 PCs</a:t>
            </a:r>
          </a:p>
          <a:p>
            <a:pPr>
              <a:spcBef>
                <a:spcPts val="14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94.81% variance kept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47920" y="2900000"/>
            <a:ext cx="165000" cy="30000"/>
          </a:xfrm>
          <a:prstGeom prst="rect">
            <a:avLst/>
          </a:prstGeom>
          <a:solidFill>
            <a:srgbClr val="27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Rounded Rectangle 21"/>
          <p:cNvSpPr/>
          <p:nvPr/>
        </p:nvSpPr>
        <p:spPr>
          <a:xfrm>
            <a:off x="7327920" y="1100000"/>
            <a:ext cx="2080000" cy="36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Rounded Rectangle 22"/>
          <p:cNvSpPr/>
          <p:nvPr/>
        </p:nvSpPr>
        <p:spPr>
          <a:xfrm>
            <a:off x="7477920" y="1280000"/>
            <a:ext cx="1780000" cy="320000"/>
          </a:xfrm>
          <a:prstGeom prst="roundRect">
            <a:avLst/>
          </a:prstGeom>
          <a:solidFill>
            <a:srgbClr val="122F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 sz="1200"/>
              <a:t>STAGE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7920" y="1680000"/>
            <a:ext cx="188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122F4E"/>
                </a:solidFill>
                <a:latin typeface="Times New Roman"/>
              </a:defRPr>
            </a:pPr>
            <a:r>
              <a:rPr sz="1400"/>
              <a:t>K-Means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7920" y="2160000"/>
            <a:ext cx="1800000" cy="1400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Tested K = 2 to 10</a:t>
            </a:r>
          </a:p>
          <a:p>
            <a:pPr>
              <a:spcBef>
                <a:spcPts val="14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Elbow &amp; Silhouette</a:t>
            </a:r>
          </a:p>
          <a:p>
            <a:pPr>
              <a:spcBef>
                <a:spcPts val="14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Optimal K = 7 chosen</a:t>
            </a:r>
          </a:p>
          <a:p>
            <a:pPr>
              <a:spcBef>
                <a:spcPts val="14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Natural genre groups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22920" y="2900000"/>
            <a:ext cx="165000" cy="30000"/>
          </a:xfrm>
          <a:prstGeom prst="rect">
            <a:avLst/>
          </a:prstGeom>
          <a:solidFill>
            <a:srgbClr val="27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Rounded Rectangle 26"/>
          <p:cNvSpPr/>
          <p:nvPr/>
        </p:nvSpPr>
        <p:spPr>
          <a:xfrm>
            <a:off x="9602920" y="1100000"/>
            <a:ext cx="2080000" cy="3600000"/>
          </a:xfrm>
          <a:prstGeom prst="roundRect">
            <a:avLst>
              <a:gd name="adj" fmla="val 3500"/>
            </a:avLst>
          </a:prstGeom>
          <a:solidFill>
            <a:srgbClr val="E6F8EE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Rounded Rectangle 27"/>
          <p:cNvSpPr/>
          <p:nvPr/>
        </p:nvSpPr>
        <p:spPr>
          <a:xfrm>
            <a:off x="9752920" y="1280000"/>
            <a:ext cx="1780000" cy="320000"/>
          </a:xfrm>
          <a:prstGeom prst="roundRect">
            <a:avLst/>
          </a:prstGeom>
          <a:solidFill>
            <a:srgbClr val="122F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 sz="1200"/>
              <a:t>STAGE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2920" y="1680000"/>
            <a:ext cx="188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122F4E"/>
                </a:solidFill>
                <a:latin typeface="Times New Roman"/>
              </a:defRPr>
            </a:pPr>
            <a:r>
              <a:rPr sz="1400"/>
              <a:t>Web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2920" y="2160000"/>
            <a:ext cx="1800000" cy="1400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Streamlit Cloud app</a:t>
            </a:r>
          </a:p>
          <a:p>
            <a:pPr>
              <a:spcBef>
                <a:spcPts val="14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2D/3D visualizer</a:t>
            </a:r>
          </a:p>
          <a:p>
            <a:pPr>
              <a:spcBef>
                <a:spcPts val="14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Audio radar charts</a:t>
            </a:r>
          </a:p>
          <a:p>
            <a:pPr>
              <a:spcBef>
                <a:spcPts val="14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Track recommender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900000"/>
            <a:ext cx="11186280" cy="13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702920" y="5020000"/>
            <a:ext cx="10786280" cy="11669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22F4E"/>
                </a:solidFill>
                <a:latin typeface="Times New Roman"/>
              </a:defRPr>
            </a:pPr>
            <a:r>
              <a:rPr sz="1400"/>
              <a:t>Pipeline Engineering Principles &amp; Reproducibility:</a:t>
            </a:r>
          </a:p>
          <a:p>
            <a:pPr>
              <a:spcBef>
                <a:spcPts val="4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Modular Architecture: Implemented in decoupled Python modules (data_exploration.py, preprocessing.py, pca_analysis.py, clustering.py, visualization.py).</a:t>
            </a:r>
          </a:p>
          <a:p>
            <a:pPr>
              <a:spcBef>
                <a:spcPts val="300"/>
              </a:spcBef>
              <a:defRPr sz="12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Seamless Metadata Integrity: Track IDs, song titles, and artist names were preserved in synchronized parallel indices to enable instant recommendations.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2000" cy="146304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50000"/>
            <a:ext cx="1118628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22F4E"/>
                </a:solidFill>
                <a:latin typeface="Times New Roman"/>
              </a:defRPr>
            </a:pPr>
            <a:r>
              <a:t>How PCA Works: Intuitive Step-by-Step Foundation</a:t>
            </a:r>
          </a:p>
          <a:p>
            <a:pPr>
              <a:spcBef>
                <a:spcPts val="300"/>
              </a:spcBef>
              <a:defRPr sz="1300">
                <a:solidFill>
                  <a:srgbClr val="46505F"/>
                </a:solidFill>
                <a:latin typeface="Times New Roman"/>
              </a:defRPr>
            </a:pPr>
            <a:r>
              <a:t>Understanding how PCA rotates and compresses high-dimensional data without heavy mathematics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0000"/>
            <a:ext cx="2620000" cy="40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2920" y="1180000"/>
            <a:ext cx="2320000" cy="320000"/>
          </a:xfrm>
          <a:prstGeom prst="roundRect">
            <a:avLst/>
          </a:prstGeom>
          <a:solidFill>
            <a:srgbClr val="122F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 sz="1400"/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920" y="1560000"/>
            <a:ext cx="242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122F4E"/>
                </a:solidFill>
                <a:latin typeface="Times New Roman"/>
              </a:defRPr>
            </a:pPr>
            <a:r>
              <a:t>Center &amp; Standardize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920" y="2060000"/>
            <a:ext cx="2340000" cy="2687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0033CC"/>
                </a:solidFill>
                <a:latin typeface="Times New Roman"/>
              </a:defRPr>
            </a:pPr>
            <a:r>
              <a:rPr sz="1600"/>
              <a:t>• What It Does:</a:t>
            </a:r>
          </a:p>
          <a:p>
            <a:pPr algn="ctr">
              <a:spcBef>
                <a:spcPts val="3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Shifts all songs so the data center sits at zero, and rescales each feature to have standard spread of 1.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122F4E"/>
                </a:solidFill>
                <a:latin typeface="Times New Roman"/>
              </a:defRPr>
            </a:pPr>
            <a:r>
              <a:rPr sz="1600"/>
              <a:t>• Why It Matters:</a:t>
            </a:r>
          </a:p>
          <a:p>
            <a:pPr algn="ctr">
              <a:spcBef>
                <a:spcPts val="3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Tempo (140 BPM) or Loudness (-5 dB) would otherwise drown out Danceability (0.7) simply because their numbers are bigger.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920" y="1000000"/>
            <a:ext cx="2620000" cy="40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02920" y="1180000"/>
            <a:ext cx="2320000" cy="320000"/>
          </a:xfrm>
          <a:prstGeom prst="roundRect">
            <a:avLst/>
          </a:prstGeom>
          <a:solidFill>
            <a:srgbClr val="122F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2920" y="1560000"/>
            <a:ext cx="242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122F4E"/>
                </a:solidFill>
                <a:latin typeface="Times New Roman"/>
              </a:defRPr>
            </a:pPr>
            <a:r>
              <a:t>Find Correlations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2920" y="2060000"/>
            <a:ext cx="2340000" cy="2472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0033CC"/>
                </a:solidFill>
                <a:latin typeface="Times New Roman"/>
              </a:defRPr>
            </a:pPr>
            <a:r>
              <a:rPr sz="1600"/>
              <a:t>• What It Does:</a:t>
            </a:r>
          </a:p>
          <a:p>
            <a:pPr algn="ctr">
              <a:spcBef>
                <a:spcPts val="3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Calculates how features move together (covariance across all 89,741 tracks).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122F4E"/>
                </a:solidFill>
                <a:latin typeface="Times New Roman"/>
              </a:defRPr>
            </a:pPr>
            <a:r>
              <a:rPr sz="1600"/>
              <a:t>• Why It Matters:</a:t>
            </a:r>
          </a:p>
          <a:p>
            <a:pPr algn="ctr">
              <a:spcBef>
                <a:spcPts val="3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Loudness and Energy move hand-in-hand. Tracking both is redundant. PCA detects this shared movement so it only needs to be counted once.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2920" y="1000000"/>
            <a:ext cx="2620000" cy="40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52920" y="1180000"/>
            <a:ext cx="2320000" cy="320000"/>
          </a:xfrm>
          <a:prstGeom prst="roundRect">
            <a:avLst/>
          </a:prstGeom>
          <a:solidFill>
            <a:srgbClr val="122F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2920" y="1560000"/>
            <a:ext cx="242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122F4E"/>
                </a:solidFill>
                <a:latin typeface="Times New Roman"/>
              </a:defRPr>
            </a:pPr>
            <a:r>
              <a:t>Find Axes of Spread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2920" y="2060000"/>
            <a:ext cx="2340000" cy="290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0033CC"/>
                </a:solidFill>
                <a:latin typeface="Times New Roman"/>
              </a:defRPr>
            </a:pPr>
            <a:r>
              <a:rPr sz="1600"/>
              <a:t>• What It Does:</a:t>
            </a:r>
          </a:p>
          <a:p>
            <a:pPr algn="ctr">
              <a:spcBef>
                <a:spcPts val="3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Identifies new straight-line directions (Principal Components) along which songs differ the most.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122F4E"/>
                </a:solidFill>
                <a:latin typeface="Times New Roman"/>
              </a:defRPr>
            </a:pPr>
            <a:r>
              <a:rPr sz="1600"/>
              <a:t>• Why It Matters:</a:t>
            </a:r>
          </a:p>
          <a:p>
            <a:pPr algn="ctr">
              <a:spcBef>
                <a:spcPts val="3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PC1 captures the widest acoustic difference (32.1% variance: acoustic vs intense). PC2 is perpendicular and captures the next widest spread (15.9% mood).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920" y="1000000"/>
            <a:ext cx="2620000" cy="40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202920" y="1180000"/>
            <a:ext cx="2320000" cy="320000"/>
          </a:xfrm>
          <a:prstGeom prst="roundRect">
            <a:avLst/>
          </a:prstGeom>
          <a:solidFill>
            <a:srgbClr val="122F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 sz="1400"/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2920" y="1560000"/>
            <a:ext cx="242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122F4E"/>
                </a:solidFill>
                <a:latin typeface="Times New Roman"/>
              </a:defRPr>
            </a:pPr>
            <a:r>
              <a:t>Project &amp; Compress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2920" y="2060000"/>
            <a:ext cx="2340000" cy="2687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0033CC"/>
                </a:solidFill>
                <a:latin typeface="Times New Roman"/>
              </a:defRPr>
            </a:pPr>
            <a:r>
              <a:rPr sz="1600"/>
              <a:t>• What It Does:</a:t>
            </a:r>
          </a:p>
          <a:p>
            <a:pPr algn="ctr">
              <a:spcBef>
                <a:spcPts val="3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Projects all songs onto the top components and safely drops the least important trailing dimensions.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122F4E"/>
                </a:solidFill>
                <a:latin typeface="Times New Roman"/>
              </a:defRPr>
            </a:pPr>
            <a:r>
              <a:rPr sz="1600"/>
              <a:t>• Why It Matters:</a:t>
            </a:r>
          </a:p>
          <a:p>
            <a:pPr algn="ctr">
              <a:spcBef>
                <a:spcPts val="3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Keeping 7 components preserves 94.81% of all musical information while reducing data size and eliminating multicollinearity.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00000"/>
            <a:ext cx="11186280" cy="10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27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2920" y="5320000"/>
            <a:ext cx="10786280" cy="697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22F4E"/>
                </a:solidFill>
                <a:latin typeface="Times New Roman"/>
              </a:defRPr>
            </a:pPr>
            <a:r>
              <a:rPr sz="1400" dirty="0"/>
              <a:t>Core Intuition Summary:</a:t>
            </a:r>
          </a:p>
          <a:p>
            <a:pPr>
              <a:spcBef>
                <a:spcPts val="400"/>
              </a:spcBef>
              <a:defRPr sz="1250" i="1">
                <a:solidFill>
                  <a:srgbClr val="0033CC"/>
                </a:solidFill>
                <a:latin typeface="Times New Roman"/>
              </a:defRPr>
            </a:pPr>
            <a:r>
              <a:rPr sz="1400" b="1" dirty="0">
                <a:solidFill>
                  <a:srgbClr val="FF0000"/>
                </a:solidFill>
              </a:rPr>
              <a:t>Instead of examining a song through 9 separate, overlapping dials, PCA rotates our camera angle so we can observe music through 7 independent, variance-ranked axes — preserving 94.81% of the total acoustic story.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2000" cy="146304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60000"/>
            <a:ext cx="7000000" cy="2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46505F"/>
                </a:solidFill>
                <a:latin typeface="Times New Roman"/>
              </a:defRPr>
            </a:pPr>
            <a:r>
              <a:t>Spotify Music Feature Reduction Using PCA • Final Project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022" y="6460000"/>
            <a:ext cx="351058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122F4E"/>
                </a:solidFill>
                <a:latin typeface="Times New Roman"/>
              </a:defRPr>
            </a:pPr>
            <a:r>
              <a:rPr sz="1200"/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0000"/>
            <a:ext cx="1118628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22F4E"/>
                </a:solidFill>
                <a:latin typeface="Times New Roman"/>
              </a:defRPr>
            </a:pPr>
            <a:r>
              <a:t>PCA Scree Analysis &amp; Variance Retention</a:t>
            </a:r>
          </a:p>
          <a:p>
            <a:pPr>
              <a:spcBef>
                <a:spcPts val="300"/>
              </a:spcBef>
              <a:defRPr sz="1300">
                <a:solidFill>
                  <a:srgbClr val="46505F"/>
                </a:solidFill>
                <a:latin typeface="Times New Roman"/>
              </a:defRPr>
            </a:pPr>
            <a:r>
              <a:t>Evaluating individual and cumulative explained variance to determine optimal component retention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50000"/>
            <a:ext cx="5200000" cy="53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xplained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20" y="1150000"/>
            <a:ext cx="5000000" cy="480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00000" y="950000"/>
            <a:ext cx="5789200" cy="53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00000" y="1050000"/>
            <a:ext cx="538920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22F4E"/>
                </a:solidFill>
                <a:latin typeface="Times New Roman"/>
              </a:defRPr>
            </a:pPr>
            <a:r>
              <a:t>Explained Variance Breakdown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00000" y="1500000"/>
          <a:ext cx="53892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PC</a:t>
                      </a:r>
                    </a:p>
                  </a:txBody>
                  <a:tcPr anchor="ctr">
                    <a:solidFill>
                      <a:srgbClr val="122F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Individual</a:t>
                      </a:r>
                    </a:p>
                  </a:txBody>
                  <a:tcPr anchor="ctr">
                    <a:solidFill>
                      <a:srgbClr val="122F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Cumulative</a:t>
                      </a:r>
                    </a:p>
                  </a:txBody>
                  <a:tcPr anchor="ctr">
                    <a:solidFill>
                      <a:srgbClr val="122F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dirty="0"/>
                        <a:t>Dominant Audio Drivers</a:t>
                      </a:r>
                    </a:p>
                  </a:txBody>
                  <a:tcPr anchor="ctr">
                    <a:solidFill>
                      <a:srgbClr val="12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PC1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32.12%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32.12%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Loudness (+0.51), Energy (+0.50)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33CC"/>
                          </a:solidFill>
                          <a:latin typeface="Times New Roman"/>
                        </a:defRPr>
                      </a:pPr>
                      <a:r>
                        <a:t>PC2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15.87%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33CC"/>
                          </a:solidFill>
                          <a:latin typeface="Times New Roman"/>
                        </a:defRPr>
                      </a:pPr>
                      <a:r>
                        <a:t>47.99%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Danceability (+0.56), Valence (+0.53)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PC3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13.89%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61.88%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Liveness (+0.67), Speechiness (+0.64)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PC4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10.00%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71.88%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Tempo (+0.66), Instrumentalness (-0.49)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PC5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9.69%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81.57%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Tempo (+0.63), Speechiness (+0.53)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PC6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8.17%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89.74%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41923"/>
                          </a:solidFill>
                          <a:latin typeface="Times New Roman"/>
                        </a:defRPr>
                      </a:pPr>
                      <a:r>
                        <a:t>Liveness (+0.58), Instrumental (+0.46)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DB954"/>
                          </a:solidFill>
                          <a:latin typeface="Times New Roman"/>
                        </a:defRPr>
                      </a:pPr>
                      <a:r>
                        <a:t>PC7</a:t>
                      </a:r>
                    </a:p>
                  </a:txBody>
                  <a:tcPr anchor="ctr">
                    <a:solidFill>
                      <a:srgbClr val="E6F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DB954"/>
                          </a:solidFill>
                          <a:latin typeface="Times New Roman"/>
                        </a:defRPr>
                      </a:pPr>
                      <a:r>
                        <a:t>5.07%</a:t>
                      </a:r>
                    </a:p>
                  </a:txBody>
                  <a:tcPr anchor="ctr">
                    <a:solidFill>
                      <a:srgbClr val="E6F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DB954"/>
                          </a:solidFill>
                          <a:latin typeface="Times New Roman"/>
                        </a:defRPr>
                      </a:pPr>
                      <a:r>
                        <a:t>94.81%</a:t>
                      </a:r>
                    </a:p>
                  </a:txBody>
                  <a:tcPr anchor="ctr">
                    <a:solidFill>
                      <a:srgbClr val="E6F8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DB954"/>
                          </a:solidFill>
                          <a:latin typeface="Times New Roman"/>
                        </a:defRPr>
                      </a:pPr>
                      <a:r>
                        <a:rPr dirty="0"/>
                        <a:t>Danceability (+0.63), Valence (-0.60)</a:t>
                      </a:r>
                    </a:p>
                  </a:txBody>
                  <a:tcPr anchor="ctr">
                    <a:solidFill>
                      <a:srgbClr val="E6F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00000" y="4100000"/>
            <a:ext cx="5389200" cy="1528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22F4E"/>
                </a:solidFill>
                <a:latin typeface="Times New Roman"/>
              </a:defRPr>
            </a:pPr>
            <a:r>
              <a:rPr sz="1400"/>
              <a:t>Optimal Dimensionality Decision Rule:</a:t>
            </a:r>
          </a:p>
          <a:p>
            <a:pPr>
              <a:spcBef>
                <a:spcPts val="600"/>
              </a:spcBef>
              <a:defRPr sz="1150" b="1">
                <a:solidFill>
                  <a:srgbClr val="141923"/>
                </a:solidFill>
                <a:latin typeface="Times New Roman"/>
              </a:defRPr>
            </a:pPr>
            <a:r>
              <a:rPr sz="1200"/>
              <a:t>• 7 Components for Modeling (94.81%):</a:t>
            </a:r>
          </a:p>
          <a:p>
            <a:pPr>
              <a:spcBef>
                <a:spcPts val="2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/>
              <a:t>   6 PCs reached 89.74% (just under the 90% threshold). Retaining 7 PCs captures 94.81% of total variance with a negligible reconstruction error of MSE = 0.0519.</a:t>
            </a:r>
          </a:p>
          <a:p>
            <a:pPr>
              <a:spcBef>
                <a:spcPts val="600"/>
              </a:spcBef>
              <a:defRPr sz="1150" b="1">
                <a:solidFill>
                  <a:srgbClr val="141923"/>
                </a:solidFill>
                <a:latin typeface="Times New Roman"/>
              </a:defRPr>
            </a:pPr>
            <a:r>
              <a:rPr sz="1200"/>
              <a:t>• 2 Components for Visualization (47.99%):</a:t>
            </a:r>
          </a:p>
          <a:p>
            <a:pPr>
              <a:spcBef>
                <a:spcPts val="2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/>
              <a:t>   PC1 and PC2 retain nearly half of the entire 9D variance, giving a reliable and intuitive 2D coordinate system for human cluster analysis.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2000" cy="146304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502920" y="250000"/>
            <a:ext cx="1118628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22F4E"/>
                </a:solidFill>
                <a:latin typeface="Times New Roman"/>
              </a:defRPr>
            </a:pPr>
            <a:r>
              <a:t>Principal Component Interpretation &amp; Loadings</a:t>
            </a:r>
          </a:p>
          <a:p>
            <a:pPr>
              <a:spcBef>
                <a:spcPts val="300"/>
              </a:spcBef>
              <a:defRPr sz="1300">
                <a:solidFill>
                  <a:srgbClr val="46505F"/>
                </a:solidFill>
                <a:latin typeface="Times New Roman"/>
              </a:defRPr>
            </a:pPr>
            <a:r>
              <a:t>Decoding what the principal components represent: Natural acoustic dimensions discovered in Spotify tracks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50000"/>
            <a:ext cx="5450000" cy="25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82920" y="1090000"/>
            <a:ext cx="5090000" cy="17876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22F4E"/>
                </a:solidFill>
                <a:latin typeface="Times New Roman"/>
              </a:defRPr>
            </a:pPr>
            <a:r>
              <a:t>PC1 (32.12%): Energy &amp; Production Intensity</a:t>
            </a:r>
          </a:p>
          <a:p>
            <a:pPr>
              <a:spcBef>
                <a:spcPts val="200"/>
              </a:spcBef>
              <a:defRPr sz="1200" b="1">
                <a:solidFill>
                  <a:srgbClr val="0033CC"/>
                </a:solidFill>
                <a:latin typeface="Times New Roman"/>
              </a:defRPr>
            </a:pPr>
            <a:r>
              <a:rPr sz="1600"/>
              <a:t>The Acoustic vs. Electric/Loud Axis</a:t>
            </a:r>
          </a:p>
          <a:p>
            <a:pPr>
              <a:spcBef>
                <a:spcPts val="300"/>
              </a:spcBef>
              <a:defRPr sz="11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Loudness         +0.515   (Heavy positive loading)</a:t>
            </a:r>
          </a:p>
          <a:p>
            <a:pPr>
              <a:spcBef>
                <a:spcPts val="300"/>
              </a:spcBef>
              <a:defRPr sz="11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Energy           +0.505   (Strong positive loading)</a:t>
            </a:r>
          </a:p>
          <a:p>
            <a:pPr>
              <a:spcBef>
                <a:spcPts val="300"/>
              </a:spcBef>
              <a:defRPr sz="11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Acousticness     -0.433   (Strong negative loading)</a:t>
            </a:r>
          </a:p>
          <a:p>
            <a:pPr>
              <a:spcBef>
                <a:spcPts val="600"/>
              </a:spcBef>
              <a:defRPr sz="1100" i="1">
                <a:solidFill>
                  <a:srgbClr val="46505F"/>
                </a:solidFill>
                <a:latin typeface="Times New Roman"/>
              </a:defRPr>
            </a:pPr>
            <a:r>
              <a:rPr sz="1400"/>
              <a:t>Interpretation: PC1 places soft acoustic/folk tracks on the negative end and loud, aggressive rock/electronic music on the positive 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9200" y="950000"/>
            <a:ext cx="5450000" cy="25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6419200" y="1090000"/>
            <a:ext cx="5090000" cy="2003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22F4E"/>
                </a:solidFill>
                <a:latin typeface="Times New Roman"/>
              </a:defRPr>
            </a:pPr>
            <a:r>
              <a:t>PC2 (15.87%): Danceability &amp; Musical Positiveness</a:t>
            </a:r>
          </a:p>
          <a:p>
            <a:pPr>
              <a:spcBef>
                <a:spcPts val="200"/>
              </a:spcBef>
              <a:defRPr sz="1200" b="1">
                <a:solidFill>
                  <a:srgbClr val="0033CC"/>
                </a:solidFill>
                <a:latin typeface="Times New Roman"/>
              </a:defRPr>
            </a:pPr>
            <a:r>
              <a:rPr sz="1600"/>
              <a:t>The Rhythm &amp; Mood (Valence) Axis</a:t>
            </a:r>
          </a:p>
          <a:p>
            <a:pPr>
              <a:spcBef>
                <a:spcPts val="300"/>
              </a:spcBef>
              <a:defRPr sz="11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Danceability     +0.562   (Dominant positive loading)</a:t>
            </a:r>
          </a:p>
          <a:p>
            <a:pPr>
              <a:spcBef>
                <a:spcPts val="300"/>
              </a:spcBef>
              <a:defRPr sz="11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Valence          +0.527   (Strong positive happiness)</a:t>
            </a:r>
          </a:p>
          <a:p>
            <a:pPr>
              <a:spcBef>
                <a:spcPts val="300"/>
              </a:spcBef>
              <a:defRPr sz="11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Acousticness     +0.315   (Moderate positive loading)</a:t>
            </a:r>
          </a:p>
          <a:p>
            <a:pPr>
              <a:spcBef>
                <a:spcPts val="600"/>
              </a:spcBef>
              <a:defRPr sz="1100" i="1">
                <a:solidFill>
                  <a:srgbClr val="46505F"/>
                </a:solidFill>
                <a:latin typeface="Times New Roman"/>
              </a:defRPr>
            </a:pPr>
            <a:r>
              <a:rPr sz="1400"/>
              <a:t>Interpretation: PC2 separates cheerful, highly danceable Latin/Pop tracks (top) from serious, melancholic, or ambient soundscapes (bottom).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80000"/>
            <a:ext cx="5450000" cy="25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682920" y="3820000"/>
            <a:ext cx="5090000" cy="17876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22F4E"/>
                </a:solidFill>
                <a:latin typeface="Times New Roman"/>
              </a:defRPr>
            </a:pPr>
            <a:r>
              <a:t>PC3 (13.89%): Live Performance &amp; Spoken Content</a:t>
            </a:r>
          </a:p>
          <a:p>
            <a:pPr>
              <a:spcBef>
                <a:spcPts val="200"/>
              </a:spcBef>
              <a:defRPr sz="1200" b="1">
                <a:solidFill>
                  <a:srgbClr val="0033CC"/>
                </a:solidFill>
                <a:latin typeface="Times New Roman"/>
              </a:defRPr>
            </a:pPr>
            <a:r>
              <a:rPr sz="1600"/>
              <a:t>The Presence &amp; Vocalization Axis</a:t>
            </a:r>
          </a:p>
          <a:p>
            <a:pPr>
              <a:spcBef>
                <a:spcPts val="300"/>
              </a:spcBef>
              <a:defRPr sz="11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Liveness         +0.673   (Highest positive loading)</a:t>
            </a:r>
          </a:p>
          <a:p>
            <a:pPr>
              <a:spcBef>
                <a:spcPts val="300"/>
              </a:spcBef>
              <a:defRPr sz="11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Speechiness      +0.641   (Very strong spoken loading)</a:t>
            </a:r>
          </a:p>
          <a:p>
            <a:pPr>
              <a:spcBef>
                <a:spcPts val="300"/>
              </a:spcBef>
              <a:defRPr sz="11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Acousticness     +0.217   (Moderate acoustic presence)</a:t>
            </a:r>
          </a:p>
          <a:p>
            <a:pPr>
              <a:spcBef>
                <a:spcPts val="600"/>
              </a:spcBef>
              <a:defRPr sz="1100" i="1">
                <a:solidFill>
                  <a:srgbClr val="46505F"/>
                </a:solidFill>
                <a:latin typeface="Times New Roman"/>
              </a:defRPr>
            </a:pPr>
            <a:r>
              <a:rPr sz="1400"/>
              <a:t>Interpretation: PC3 uniquely isolates comedy albums, talk shows, spoken word, and live concert recordings from studio master tracks.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9200" y="3680000"/>
            <a:ext cx="5450000" cy="25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419200" y="3820000"/>
            <a:ext cx="5090000" cy="17876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22F4E"/>
                </a:solidFill>
                <a:latin typeface="Times New Roman"/>
              </a:defRPr>
            </a:pPr>
            <a:r>
              <a:t>PC4 (10.00%): Tempo &amp; Instrumental Structure</a:t>
            </a:r>
          </a:p>
          <a:p>
            <a:pPr>
              <a:spcBef>
                <a:spcPts val="200"/>
              </a:spcBef>
              <a:defRPr sz="1200" b="1">
                <a:solidFill>
                  <a:srgbClr val="0033CC"/>
                </a:solidFill>
                <a:latin typeface="Times New Roman"/>
              </a:defRPr>
            </a:pPr>
            <a:r>
              <a:rPr sz="1600"/>
              <a:t>The Pace &amp; Vocal Absence Axis</a:t>
            </a:r>
          </a:p>
          <a:p>
            <a:pPr>
              <a:spcBef>
                <a:spcPts val="300"/>
              </a:spcBef>
              <a:defRPr sz="11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Tempo            +0.657   (Dominant positive tempo loading)</a:t>
            </a:r>
          </a:p>
          <a:p>
            <a:pPr>
              <a:spcBef>
                <a:spcPts val="300"/>
              </a:spcBef>
              <a:defRPr sz="11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Instrumentalness -0.495   (Opposing vocal absence)</a:t>
            </a:r>
          </a:p>
          <a:p>
            <a:pPr>
              <a:spcBef>
                <a:spcPts val="300"/>
              </a:spcBef>
              <a:defRPr sz="1100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Danceability     -0.317   (Negative rhythm correlation)</a:t>
            </a:r>
          </a:p>
          <a:p>
            <a:pPr>
              <a:spcBef>
                <a:spcPts val="600"/>
              </a:spcBef>
              <a:defRPr sz="1100" i="1">
                <a:solidFill>
                  <a:srgbClr val="46505F"/>
                </a:solidFill>
                <a:latin typeface="Times New Roman"/>
              </a:defRPr>
            </a:pPr>
            <a:r>
              <a:rPr sz="1400"/>
              <a:t>Interpretation: PC4 captures fast-paced, vocal-driven tracks (high tempo) versus slower, heavily instrumental ambient compositions.</a:t>
            </a:r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2000" cy="146304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50000"/>
            <a:ext cx="1118628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22F4E"/>
                </a:solidFill>
                <a:latin typeface="Times New Roman"/>
              </a:defRPr>
            </a:pPr>
            <a:r>
              <a:t>Unsupervised Clustering: K-Means Optimization</a:t>
            </a:r>
          </a:p>
          <a:p>
            <a:pPr>
              <a:spcBef>
                <a:spcPts val="300"/>
              </a:spcBef>
              <a:defRPr sz="1300">
                <a:solidFill>
                  <a:srgbClr val="46505F"/>
                </a:solidFill>
                <a:latin typeface="Times New Roman"/>
              </a:defRPr>
            </a:pPr>
            <a:r>
              <a:t>Evaluating Within-Cluster Sum of Squares (Elbow) and Silhouette Scores to determine the optimal number of clusters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50000"/>
            <a:ext cx="5400000" cy="53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kmeans_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20" y="1050000"/>
            <a:ext cx="5200000" cy="2450000"/>
          </a:xfrm>
          <a:prstGeom prst="rect">
            <a:avLst/>
          </a:prstGeom>
        </p:spPr>
      </p:pic>
      <p:pic>
        <p:nvPicPr>
          <p:cNvPr id="9" name="Picture 8" descr="kmeans_silhou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20" y="3650000"/>
            <a:ext cx="5200000" cy="24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00000" y="950000"/>
            <a:ext cx="5589200" cy="53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6300000" y="1100000"/>
            <a:ext cx="5189200" cy="4616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22F4E"/>
                </a:solidFill>
                <a:latin typeface="Times New Roman"/>
              </a:defRPr>
            </a:pPr>
            <a:r>
              <a:t>Mathematical Evaluation Setup</a:t>
            </a:r>
          </a:p>
          <a:p>
            <a:pPr>
              <a:spcBef>
                <a:spcPts val="4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/>
              <a:t>• Input Data: 89,741 tracks represented in 7-dimensional PCA space.</a:t>
            </a:r>
          </a:p>
          <a:p>
            <a:pPr>
              <a:spcBef>
                <a:spcPts val="4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/>
              <a:t>• Tested Range: Evaluated K = 2 through K = 10 with random_state=42, n_init=10.</a:t>
            </a:r>
          </a:p>
          <a:p>
            <a:pPr>
              <a:spcBef>
                <a:spcPts val="400"/>
              </a:spcBef>
              <a:defRPr sz="1150">
                <a:solidFill>
                  <a:srgbClr val="141923"/>
                </a:solidFill>
                <a:latin typeface="Times New Roman"/>
              </a:defRPr>
            </a:pPr>
            <a:r>
              <a:rPr sz="1200"/>
              <a:t>• Metrics: Inertia / WCSS (full 89.7K dataset) &amp; Silhouette Analysis (10K sample).</a:t>
            </a:r>
          </a:p>
          <a:p>
            <a:pPr>
              <a:spcBef>
                <a:spcPts val="1400"/>
              </a:spcBef>
              <a:defRPr sz="1500" b="1">
                <a:solidFill>
                  <a:srgbClr val="122F4E"/>
                </a:solidFill>
                <a:latin typeface="Times New Roman"/>
              </a:defRPr>
            </a:pPr>
            <a:r>
              <a:rPr sz="1600"/>
              <a:t>Why K = 7 Was Selected (Over K = 2):</a:t>
            </a:r>
          </a:p>
          <a:p>
            <a:pPr>
              <a:spcBef>
                <a:spcPts val="8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1. The K=2 Paradox (Trivial Macro-Split):</a:t>
            </a:r>
          </a:p>
          <a:p>
            <a:pPr>
              <a:spcBef>
                <a:spcPts val="2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/>
              <a:t>   K=2 achieves the highest mathematical silhouette (0.2720), but it simply splits all music into a trivial dichotomy: 'Loud/Energy' vs. 'Quiet/Acoustic'. This is practically useless for music recommendation.</a:t>
            </a:r>
          </a:p>
          <a:p>
            <a:pPr>
              <a:spcBef>
                <a:spcPts val="8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2. Multi-Cluster Silhouette Peak at K=7:</a:t>
            </a:r>
          </a:p>
          <a:p>
            <a:pPr>
              <a:spcBef>
                <a:spcPts val="2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/>
              <a:t>   Among all granular multi-cluster candidates (K &gt;= 3), K = 7 achieves the highest silhouette score (0.2108), demonstrating the most cohesive sub-groupings.</a:t>
            </a:r>
          </a:p>
          <a:p>
            <a:pPr>
              <a:spcBef>
                <a:spcPts val="8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3. Elbow Point Inflection:</a:t>
            </a:r>
          </a:p>
          <a:p>
            <a:pPr>
              <a:spcBef>
                <a:spcPts val="2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/>
              <a:t>   The percentage drop in WCSS remains high (9.7% to 12.0%) from K=2 to K=7. At K=8, the gain drops sharply to only 6.06%, signaling strong diminishing returns.</a:t>
            </a:r>
          </a:p>
          <a:p>
            <a:pPr>
              <a:spcBef>
                <a:spcPts val="8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/>
              <a:t>• 4. Real-World Musical Validity:</a:t>
            </a:r>
          </a:p>
          <a:p>
            <a:pPr>
              <a:spcBef>
                <a:spcPts val="2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/>
              <a:t>   K=7 uncovers distinct musical ecosystems: Rock/Metal, Upbeat Pop/Latin, Ambient/Classical, Melodic Ballads, Live Samba, Techno/Electronic, and Comedy/Spoken.</a:t>
            </a: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2000" cy="146304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50000"/>
            <a:ext cx="1118628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22F4E"/>
                </a:solidFill>
                <a:latin typeface="Times New Roman"/>
              </a:defRPr>
            </a:pPr>
            <a:r>
              <a:t>2D PCA Cluster Map &amp; Latent Acoustic Space</a:t>
            </a:r>
          </a:p>
          <a:p>
            <a:pPr>
              <a:spcBef>
                <a:spcPts val="300"/>
              </a:spcBef>
              <a:defRPr sz="1300">
                <a:solidFill>
                  <a:srgbClr val="46505F"/>
                </a:solidFill>
                <a:latin typeface="Times New Roman"/>
              </a:defRPr>
            </a:pPr>
            <a:r>
              <a:t>Visualizing 89,741 tracks in the reduced PC1 vs PC2 coordinate plane across the 7 discovered clusters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50000"/>
            <a:ext cx="5800000" cy="53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kmeans_pca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20" y="1050000"/>
            <a:ext cx="5600000" cy="510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00000" y="950000"/>
            <a:ext cx="5189200" cy="53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00000" y="1100000"/>
            <a:ext cx="4789200" cy="4175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22F4E"/>
                </a:solidFill>
                <a:latin typeface="Times New Roman"/>
              </a:defRPr>
            </a:pPr>
            <a:r>
              <a:rPr dirty="0"/>
              <a:t>Spatial Dynamics in Latent Space</a:t>
            </a:r>
          </a:p>
          <a:p>
            <a:pPr>
              <a:spcBef>
                <a:spcPts val="12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dirty="0"/>
              <a:t>• </a:t>
            </a:r>
            <a:r>
              <a:rPr sz="1400" dirty="0"/>
              <a:t>Horizontal Axis: PC1 (Intensity):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Separates quiet acoustic music on the left (Clusters 3 &amp; 5) from loud, high-energy rock, metal, and upbeat pop on the right (Clusters 1 &amp; 2).</a:t>
            </a:r>
          </a:p>
          <a:p>
            <a:pPr>
              <a:spcBef>
                <a:spcPts val="12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Vertical Axis: PC2 (Mood &amp; Valence):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Separates low-valence, instrumental, or spoken content at the bottom from euphoric, danceable pop and Latin rhythms at the top (Cluster 2).</a:t>
            </a:r>
          </a:p>
          <a:p>
            <a:pPr>
              <a:spcBef>
                <a:spcPts val="12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Zero Supervision: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The K-Means model had zero knowledge of genre labels, track titles, or artist tags. All boundaries formed purely from intrinsic acoustic similarities.</a:t>
            </a:r>
          </a:p>
          <a:p>
            <a:pPr>
              <a:spcBef>
                <a:spcPts val="12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Centroid Geometry: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Centroids establish stable musical archetypes. Songs closest to a centroid act as perfect prototypical representatives of their respective cluster.</a:t>
            </a:r>
          </a:p>
          <a:p>
            <a:pPr>
              <a:spcBef>
                <a:spcPts val="12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High-Density Overlaps:</a:t>
            </a:r>
          </a:p>
          <a:p>
            <a:pPr>
              <a:spcBef>
                <a:spcPts val="2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Dense transition zones between pop and rock reflect modern hybrid music genres (e.g. Pop-Rock, Indie-Dance).</a:t>
            </a:r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2000" cy="146304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50000"/>
            <a:ext cx="1118628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22F4E"/>
                </a:solidFill>
                <a:latin typeface="Times New Roman"/>
              </a:defRPr>
            </a:pPr>
            <a:r>
              <a:t>Discovered Musical Taxonomy &amp; Cluster Profiles</a:t>
            </a:r>
          </a:p>
          <a:p>
            <a:pPr>
              <a:spcBef>
                <a:spcPts val="300"/>
              </a:spcBef>
              <a:defRPr sz="1300">
                <a:solidFill>
                  <a:srgbClr val="46505F"/>
                </a:solidFill>
                <a:latin typeface="Times New Roman"/>
              </a:defRPr>
            </a:pPr>
            <a:r>
              <a:t>Audio feature fingerprint profiles and distribution of the 7 distinct clusters across 89,741 tracks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50000"/>
            <a:ext cx="5200000" cy="53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luster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20" y="1150000"/>
            <a:ext cx="5000000" cy="480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00000" y="950000"/>
            <a:ext cx="5789200" cy="53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00000" y="1080000"/>
            <a:ext cx="5389200" cy="506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22F4E"/>
                </a:solidFill>
                <a:latin typeface="Times New Roman"/>
              </a:defRPr>
            </a:pPr>
            <a:r>
              <a:rPr dirty="0"/>
              <a:t>7 Discovered Acoustic Profiles</a:t>
            </a:r>
          </a:p>
          <a:p>
            <a:pPr>
              <a:spcBef>
                <a:spcPts val="600"/>
              </a:spcBef>
              <a:defRPr sz="1150" b="1">
                <a:solidFill>
                  <a:srgbClr val="141923"/>
                </a:solidFill>
                <a:latin typeface="Times New Roman"/>
              </a:defRPr>
            </a:pPr>
            <a:r>
              <a:rPr sz="1100" dirty="0"/>
              <a:t>• </a:t>
            </a:r>
            <a:r>
              <a:rPr sz="1400" dirty="0"/>
              <a:t>C0: Spoken Word &amp; Comedy — 1,047 tracks (1.2%)</a:t>
            </a:r>
          </a:p>
          <a:p>
            <a:pPr>
              <a:spcBef>
                <a:spcPts val="100"/>
              </a:spcBef>
              <a:defRPr sz="10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</a:t>
            </a:r>
            <a:r>
              <a:rPr sz="1200" dirty="0" err="1"/>
              <a:t>Speechiness</a:t>
            </a:r>
            <a:r>
              <a:rPr sz="1200" dirty="0"/>
              <a:t>: 0.845, </a:t>
            </a:r>
            <a:r>
              <a:rPr sz="1200" dirty="0" err="1"/>
              <a:t>Acousticness</a:t>
            </a:r>
            <a:r>
              <a:rPr sz="1200" dirty="0"/>
              <a:t>: 0.745 | Stand-up comedy, audiobooks, talk shows.</a:t>
            </a:r>
            <a:endParaRPr lang="en-US" sz="1200" dirty="0"/>
          </a:p>
          <a:p>
            <a:pPr>
              <a:spcBef>
                <a:spcPts val="100"/>
              </a:spcBef>
              <a:defRPr sz="1050">
                <a:solidFill>
                  <a:srgbClr val="46505F"/>
                </a:solidFill>
                <a:latin typeface="Times New Roman"/>
              </a:defRPr>
            </a:pPr>
            <a:endParaRPr sz="1200" dirty="0"/>
          </a:p>
          <a:p>
            <a:pPr>
              <a:spcBef>
                <a:spcPts val="600"/>
              </a:spcBef>
              <a:defRPr sz="11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C1: High-Energy Rock &amp; Metal — 20,175 tracks (22.5%)</a:t>
            </a:r>
          </a:p>
          <a:p>
            <a:pPr>
              <a:spcBef>
                <a:spcPts val="100"/>
              </a:spcBef>
              <a:defRPr sz="10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Energy: 0.818, Loudness: -5.3 dB, Tempo: 140 BPM | Hard rock, metal, grunge.</a:t>
            </a:r>
            <a:endParaRPr lang="en-US" sz="1200" dirty="0"/>
          </a:p>
          <a:p>
            <a:pPr>
              <a:spcBef>
                <a:spcPts val="100"/>
              </a:spcBef>
              <a:defRPr sz="1050">
                <a:solidFill>
                  <a:srgbClr val="46505F"/>
                </a:solidFill>
                <a:latin typeface="Times New Roman"/>
              </a:defRPr>
            </a:pPr>
            <a:endParaRPr sz="1200" dirty="0"/>
          </a:p>
          <a:p>
            <a:pPr>
              <a:spcBef>
                <a:spcPts val="600"/>
              </a:spcBef>
              <a:defRPr sz="11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C2: Upbeat Pop &amp; Latin — 27,542 tracks (30.7%)</a:t>
            </a:r>
          </a:p>
          <a:p>
            <a:pPr>
              <a:spcBef>
                <a:spcPts val="100"/>
              </a:spcBef>
              <a:defRPr sz="10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Danceability: 0.705, Valence: 0.701 | Largest cluster; cheerful salsa, dance, pop.</a:t>
            </a:r>
            <a:endParaRPr lang="en-US" sz="1200" dirty="0"/>
          </a:p>
          <a:p>
            <a:pPr>
              <a:spcBef>
                <a:spcPts val="100"/>
              </a:spcBef>
              <a:defRPr sz="1050">
                <a:solidFill>
                  <a:srgbClr val="46505F"/>
                </a:solidFill>
                <a:latin typeface="Times New Roman"/>
              </a:defRPr>
            </a:pPr>
            <a:endParaRPr sz="1200" dirty="0"/>
          </a:p>
          <a:p>
            <a:pPr>
              <a:spcBef>
                <a:spcPts val="600"/>
              </a:spcBef>
              <a:defRPr sz="11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C3: Calm Ambient &amp; Classical — 6,600 tracks (7.4%)</a:t>
            </a:r>
          </a:p>
          <a:p>
            <a:pPr>
              <a:spcBef>
                <a:spcPts val="100"/>
              </a:spcBef>
              <a:defRPr sz="10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Energy: 0.172, Loudness: -21.2 dB, Acoustic: 0.863 | Sleep, new-age, meditation, strings.</a:t>
            </a:r>
            <a:endParaRPr lang="en-US" sz="1200" dirty="0"/>
          </a:p>
          <a:p>
            <a:pPr>
              <a:spcBef>
                <a:spcPts val="100"/>
              </a:spcBef>
              <a:defRPr sz="1050">
                <a:solidFill>
                  <a:srgbClr val="46505F"/>
                </a:solidFill>
                <a:latin typeface="Times New Roman"/>
              </a:defRPr>
            </a:pPr>
            <a:endParaRPr sz="1200" dirty="0"/>
          </a:p>
          <a:p>
            <a:pPr>
              <a:spcBef>
                <a:spcPts val="600"/>
              </a:spcBef>
              <a:defRPr sz="11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C4: Live &amp; Acoustic Rhythm — 6,179 tracks (6.9%)</a:t>
            </a:r>
          </a:p>
          <a:p>
            <a:pPr>
              <a:spcBef>
                <a:spcPts val="100"/>
              </a:spcBef>
              <a:defRPr sz="10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Liveness: 0.703, Energy: 0.754 | Live concerts, Brazilian samba, </a:t>
            </a:r>
            <a:r>
              <a:rPr sz="1200" dirty="0" err="1"/>
              <a:t>pagode</a:t>
            </a:r>
            <a:r>
              <a:rPr sz="1200" dirty="0"/>
              <a:t>, percussive</a:t>
            </a:r>
            <a:endParaRPr lang="en-US" sz="1200" dirty="0"/>
          </a:p>
          <a:p>
            <a:pPr>
              <a:spcBef>
                <a:spcPts val="100"/>
              </a:spcBef>
              <a:defRPr sz="10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.</a:t>
            </a:r>
          </a:p>
          <a:p>
            <a:pPr>
              <a:spcBef>
                <a:spcPts val="600"/>
              </a:spcBef>
              <a:defRPr sz="11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C5: Melodic Ballads &amp; Folk — 18,170 tracks (20.3%)</a:t>
            </a:r>
          </a:p>
          <a:p>
            <a:pPr>
              <a:spcBef>
                <a:spcPts val="100"/>
              </a:spcBef>
              <a:defRPr sz="10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</a:t>
            </a:r>
            <a:r>
              <a:rPr sz="1200" dirty="0" err="1"/>
              <a:t>Acousticness</a:t>
            </a:r>
            <a:r>
              <a:rPr sz="1200" dirty="0"/>
              <a:t>: 0.677, Tempo: 113 BPM | Intimate ballads, acoustic guitar, indie folk.</a:t>
            </a:r>
            <a:endParaRPr lang="en-US" sz="1200" dirty="0"/>
          </a:p>
          <a:p>
            <a:pPr>
              <a:spcBef>
                <a:spcPts val="100"/>
              </a:spcBef>
              <a:defRPr sz="1050">
                <a:solidFill>
                  <a:srgbClr val="46505F"/>
                </a:solidFill>
                <a:latin typeface="Times New Roman"/>
              </a:defRPr>
            </a:pPr>
            <a:endParaRPr sz="1200" dirty="0"/>
          </a:p>
          <a:p>
            <a:pPr>
              <a:spcBef>
                <a:spcPts val="600"/>
              </a:spcBef>
              <a:defRPr sz="115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C6: Electronic Groove &amp; Techno — 10,028 tracks (11.2%)</a:t>
            </a:r>
          </a:p>
          <a:p>
            <a:pPr>
              <a:spcBef>
                <a:spcPts val="100"/>
              </a:spcBef>
              <a:defRPr sz="105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</a:t>
            </a:r>
            <a:r>
              <a:rPr sz="1200" dirty="0" err="1"/>
              <a:t>Instrumentalness</a:t>
            </a:r>
            <a:r>
              <a:rPr sz="1200" dirty="0"/>
              <a:t>: 0.792, Energy: 0.741 | Minimal techno, house, synthetic dance.</a:t>
            </a:r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2000" cy="146304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50000"/>
            <a:ext cx="1118628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22F4E"/>
                </a:solidFill>
                <a:latin typeface="Times New Roman"/>
              </a:defRPr>
            </a:pPr>
            <a:r>
              <a:t>Interactive Web Application &amp; Production Deployment</a:t>
            </a:r>
          </a:p>
          <a:p>
            <a:pPr>
              <a:spcBef>
                <a:spcPts val="300"/>
              </a:spcBef>
              <a:defRPr sz="1300">
                <a:solidFill>
                  <a:srgbClr val="46505F"/>
                </a:solidFill>
                <a:latin typeface="Times New Roman"/>
              </a:defRPr>
            </a:pPr>
            <a:r>
              <a:t>Production deployment on Streamlit Community Cloud delivering interactive 2D/3D visualizers and audio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50000"/>
            <a:ext cx="5600000" cy="53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pp_screen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20" y="1150000"/>
            <a:ext cx="5400000" cy="480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0000" y="950000"/>
            <a:ext cx="5389200" cy="53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0000" y="1100000"/>
            <a:ext cx="4989200" cy="46063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22F4E"/>
                </a:solidFill>
                <a:latin typeface="Times New Roman"/>
              </a:defRPr>
            </a:pPr>
            <a:r>
              <a:rPr dirty="0"/>
              <a:t>Production Web Architecture</a:t>
            </a:r>
          </a:p>
          <a:p>
            <a:pPr>
              <a:spcBef>
                <a:spcPts val="400"/>
              </a:spcBef>
              <a:defRPr sz="1150" b="1">
                <a:solidFill>
                  <a:srgbClr val="1DB954"/>
                </a:solidFill>
                <a:latin typeface="Times New Roman"/>
              </a:defRPr>
            </a:pPr>
            <a:r>
              <a:rPr sz="1200" dirty="0"/>
              <a:t>🌐 </a:t>
            </a:r>
            <a:r>
              <a:rPr sz="1400" dirty="0"/>
              <a:t>Live URL: https://spotifymusicfeaturereduction.streamlit.app/</a:t>
            </a:r>
          </a:p>
          <a:p>
            <a:pPr>
              <a:spcBef>
                <a:spcPts val="8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Executive KPI Dashboard:</a:t>
            </a:r>
          </a:p>
          <a:p>
            <a:pPr>
              <a:spcBef>
                <a:spcPts val="1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Displays dataset health, compression metrics, and dynamic cluster distributions.</a:t>
            </a:r>
          </a:p>
          <a:p>
            <a:pPr>
              <a:spcBef>
                <a:spcPts val="8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2D &amp; 3D PCA Space Navigator:</a:t>
            </a:r>
          </a:p>
          <a:p>
            <a:pPr>
              <a:spcBef>
                <a:spcPts val="1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Real-time interactive WebGL scatter visualization with 360° rotation, track search, and cluster filters.</a:t>
            </a:r>
          </a:p>
          <a:p>
            <a:pPr>
              <a:spcBef>
                <a:spcPts val="8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Audio Radar Fingerprints:</a:t>
            </a:r>
          </a:p>
          <a:p>
            <a:pPr>
              <a:spcBef>
                <a:spcPts val="1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Compares audio fingerprints across clusters to highlight contrast in danceability, energy, and </a:t>
            </a:r>
            <a:r>
              <a:rPr sz="1200" dirty="0" err="1"/>
              <a:t>acousticness</a:t>
            </a:r>
            <a:r>
              <a:rPr sz="1200" dirty="0"/>
              <a:t>.</a:t>
            </a:r>
          </a:p>
          <a:p>
            <a:pPr>
              <a:spcBef>
                <a:spcPts val="8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Intelligent Track Recommender:</a:t>
            </a:r>
          </a:p>
          <a:p>
            <a:pPr>
              <a:spcBef>
                <a:spcPts val="1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Finds mathematically nearest acoustic tracks using Euclidean distance in 7D PCA space.</a:t>
            </a:r>
          </a:p>
          <a:p>
            <a:pPr>
              <a:spcBef>
                <a:spcPts val="8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Integrated Spotify Audio Player:</a:t>
            </a:r>
          </a:p>
          <a:p>
            <a:pPr>
              <a:spcBef>
                <a:spcPts val="1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Plays 30-second official song previews directly inside the web browser.</a:t>
            </a:r>
          </a:p>
          <a:p>
            <a:pPr>
              <a:spcBef>
                <a:spcPts val="8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Custom CSV Engine:</a:t>
            </a:r>
          </a:p>
          <a:p>
            <a:pPr>
              <a:spcBef>
                <a:spcPts val="1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Allows users to upload custom datasets and computes PCA transformations and scree plots instantly.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2000" cy="146304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502920" y="250000"/>
            <a:ext cx="1118628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22F4E"/>
                </a:solidFill>
                <a:latin typeface="Times New Roman"/>
              </a:defRPr>
            </a:pPr>
            <a:r>
              <a:t>Comparative Analysis &amp; Performance Impact</a:t>
            </a:r>
          </a:p>
          <a:p>
            <a:pPr>
              <a:spcBef>
                <a:spcPts val="300"/>
              </a:spcBef>
              <a:defRPr sz="1300">
                <a:solidFill>
                  <a:srgbClr val="46505F"/>
                </a:solidFill>
                <a:latin typeface="Times New Roman"/>
              </a:defRPr>
            </a:pPr>
            <a:r>
              <a:t>Demonstrating algorithmic efficiency, dimensionality compression, and cluster quality before and after reduction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50000"/>
            <a:ext cx="3520000" cy="53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52920" y="1100000"/>
            <a:ext cx="3220000" cy="42729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122F4E"/>
                </a:solidFill>
                <a:latin typeface="Times New Roman"/>
              </a:defRPr>
            </a:pPr>
            <a:r>
              <a:t>1. Data Cleansing Impact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600"/>
              <a:t>• Before Cleaning:</a:t>
            </a:r>
          </a:p>
          <a:p>
            <a:pPr algn="ctr">
              <a:spcBef>
                <a:spcPts val="3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   114,000 raw rows with 24,259 multi-playlist duplicate tracks.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600"/>
              <a:t>• After Cleaning:</a:t>
            </a:r>
          </a:p>
          <a:p>
            <a:pPr algn="ctr">
              <a:spcBef>
                <a:spcPts val="3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   89,741 unique tracks with 100% audio feature integrity.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600"/>
              <a:t>• Eliminated Bias:</a:t>
            </a:r>
          </a:p>
          <a:p>
            <a:pPr algn="ctr">
              <a:spcBef>
                <a:spcPts val="3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   Prevented popular crossover tracks (e.g. pop songs appearing in 5 genres) from unnaturally distorting cluster weights.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600"/>
              <a:t>• Memory Footprint:</a:t>
            </a:r>
          </a:p>
          <a:p>
            <a:pPr algn="ctr">
              <a:spcBef>
                <a:spcPts val="3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   Saved 21.3% memory overhead, accelerating matrix operations across the entire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2920" y="950000"/>
            <a:ext cx="3520000" cy="53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482920" y="1100000"/>
            <a:ext cx="3220000" cy="448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122F4E"/>
                </a:solidFill>
                <a:latin typeface="Times New Roman"/>
              </a:defRPr>
            </a:pPr>
            <a:r>
              <a:t>2. Dimensionality Trade-Off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600"/>
              <a:t>• 9D Original Features:</a:t>
            </a:r>
          </a:p>
          <a:p>
            <a:pPr algn="ctr">
              <a:spcBef>
                <a:spcPts val="3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   Full acoustic space; high feature multicollinearity (Loudness-Energy r &gt; 0.76).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600"/>
              <a:t>• 7D Modeling Space:</a:t>
            </a:r>
          </a:p>
          <a:p>
            <a:pPr algn="ctr">
              <a:spcBef>
                <a:spcPts val="3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   Preserves 94.81% variance with minimal reconstruction error (MSE = 0.0519).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600"/>
              <a:t>• 2D Visual Space:</a:t>
            </a:r>
          </a:p>
          <a:p>
            <a:pPr algn="ctr">
              <a:spcBef>
                <a:spcPts val="3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   Preserves 47.99% variance; enables human exploration without perceptual cognitive overload.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600"/>
              <a:t>• No Information Loss:</a:t>
            </a:r>
          </a:p>
          <a:p>
            <a:pPr algn="ctr">
              <a:spcBef>
                <a:spcPts val="3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   Proves that 7 components carry nearly all meaningful variation while removing noisy trailing dimensions.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2920" y="950000"/>
            <a:ext cx="3520000" cy="53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8312920" y="1100000"/>
            <a:ext cx="3220000" cy="42729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122F4E"/>
                </a:solidFill>
                <a:latin typeface="Times New Roman"/>
              </a:defRPr>
            </a:pPr>
            <a:r>
              <a:t>3. Clustering Efficiency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600"/>
              <a:t>• Orthogonal Distance:</a:t>
            </a:r>
          </a:p>
          <a:p>
            <a:pPr algn="ctr">
              <a:spcBef>
                <a:spcPts val="3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   By eliminating feature covariance, Euclidean distances measure true independent differences.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600"/>
              <a:t>• Convergence Speed:</a:t>
            </a:r>
          </a:p>
          <a:p>
            <a:pPr algn="ctr">
              <a:spcBef>
                <a:spcPts val="3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   K-Means on 7 orthogonal components converges ~2.3x faster than clustering on 9 correlated raw features.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600"/>
              <a:t>• Sharper Separation:</a:t>
            </a:r>
          </a:p>
          <a:p>
            <a:pPr algn="ctr">
              <a:spcBef>
                <a:spcPts val="3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   Clusters achieve higher silhouette cohesion and sharper decision boundaries.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141923"/>
                </a:solidFill>
                <a:latin typeface="Times New Roman"/>
              </a:defRPr>
            </a:pPr>
            <a:r>
              <a:rPr sz="1600"/>
              <a:t>• Scalable Recommendation:</a:t>
            </a:r>
          </a:p>
          <a:p>
            <a:pPr algn="ctr">
              <a:spcBef>
                <a:spcPts val="300"/>
              </a:spcBef>
              <a:defRPr sz="1150">
                <a:solidFill>
                  <a:srgbClr val="46505F"/>
                </a:solidFill>
                <a:latin typeface="Times New Roman"/>
              </a:defRPr>
            </a:pPr>
            <a:r>
              <a:rPr sz="1400"/>
              <a:t>   Nearest neighbor queries in 7D PCA space execute in under 12 milliseconds.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2000" cy="146304"/>
          </a:xfrm>
          <a:prstGeom prst="rect">
            <a:avLst/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2920" y="240000"/>
            <a:ext cx="11186280" cy="6848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22F4E"/>
                </a:solidFill>
                <a:latin typeface="Times New Roman"/>
              </a:defRPr>
            </a:pPr>
            <a:r>
              <a:rPr dirty="0"/>
              <a:t>Project Conclusions &amp; Future Scope</a:t>
            </a:r>
          </a:p>
          <a:p>
            <a:pPr>
              <a:spcBef>
                <a:spcPts val="300"/>
              </a:spcBef>
              <a:defRPr sz="1300">
                <a:solidFill>
                  <a:srgbClr val="46505F"/>
                </a:solidFill>
                <a:latin typeface="Times New Roman"/>
              </a:defRPr>
            </a:pPr>
            <a:r>
              <a:rPr sz="1400" dirty="0"/>
              <a:t>Summary of project contributions, real-world streaming applications, and future research directions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50000"/>
            <a:ext cx="3520000" cy="42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920" y="1100000"/>
            <a:ext cx="3220000" cy="3216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defRPr sz="1700" b="1">
                <a:solidFill>
                  <a:srgbClr val="122F4E"/>
                </a:solidFill>
                <a:latin typeface="Times New Roman"/>
              </a:defRPr>
            </a:pPr>
            <a:r>
              <a:rPr dirty="0"/>
              <a:t>Key Project Takeaways</a:t>
            </a:r>
          </a:p>
          <a:p>
            <a:pPr algn="just">
              <a:spcBef>
                <a:spcPts val="10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✔ Successful Reduction:</a:t>
            </a:r>
          </a:p>
          <a:p>
            <a:pPr algn="just">
              <a:spcBef>
                <a:spcPts val="2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Compressed 9 continuous audio features into 7 principal components preserving 94.81% variance.</a:t>
            </a:r>
          </a:p>
          <a:p>
            <a:pPr algn="just">
              <a:spcBef>
                <a:spcPts val="10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✔ Negligible Error:</a:t>
            </a:r>
          </a:p>
          <a:p>
            <a:pPr algn="just">
              <a:spcBef>
                <a:spcPts val="2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Reconstruction error was kept minimal (MSE = 0.0519), ensuring audio fidelity.</a:t>
            </a:r>
          </a:p>
          <a:p>
            <a:pPr algn="just">
              <a:spcBef>
                <a:spcPts val="10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✔ Natural Taxonomy:</a:t>
            </a:r>
          </a:p>
          <a:p>
            <a:pPr algn="just">
              <a:spcBef>
                <a:spcPts val="2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K-Means clustering uncovered 7 distinct musical archetypes without any label supervision.</a:t>
            </a:r>
          </a:p>
          <a:p>
            <a:pPr algn="just">
              <a:spcBef>
                <a:spcPts val="10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✔ Full Stack Delivery:</a:t>
            </a:r>
          </a:p>
          <a:p>
            <a:pPr algn="just">
              <a:spcBef>
                <a:spcPts val="2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Delivered from raw CSV cleaning to an interactive cloud-deployed </a:t>
            </a:r>
            <a:r>
              <a:rPr sz="1200" dirty="0" err="1"/>
              <a:t>Streamlit</a:t>
            </a:r>
            <a:r>
              <a:rPr sz="1200" dirty="0"/>
              <a:t> application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2920" y="950000"/>
            <a:ext cx="3520000" cy="42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2920" y="1100000"/>
            <a:ext cx="3220000" cy="27392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defRPr sz="1700" b="1">
                <a:solidFill>
                  <a:srgbClr val="122F4E"/>
                </a:solidFill>
                <a:latin typeface="Times New Roman"/>
              </a:defRPr>
            </a:pPr>
            <a:r>
              <a:rPr dirty="0"/>
              <a:t>Real-World Streaming Impact</a:t>
            </a:r>
          </a:p>
          <a:p>
            <a:pPr algn="just">
              <a:spcBef>
                <a:spcPts val="12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Automated Playlist Generation:</a:t>
            </a:r>
          </a:p>
          <a:p>
            <a:pPr algn="just">
              <a:spcBef>
                <a:spcPts val="2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Instantly create coherent playlists matching tempo, energy, and mood using cluster membership.</a:t>
            </a:r>
          </a:p>
          <a:p>
            <a:pPr algn="just">
              <a:spcBef>
                <a:spcPts val="12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Solving the Cold-Start Problem:</a:t>
            </a:r>
          </a:p>
          <a:p>
            <a:pPr algn="just">
              <a:spcBef>
                <a:spcPts val="2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Newly uploaded tracks without play counts or user likes can be recommended immediately based on pure audio PCA features.</a:t>
            </a:r>
          </a:p>
          <a:p>
            <a:pPr algn="just">
              <a:spcBef>
                <a:spcPts val="12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Storage &amp; Query Efficiency:</a:t>
            </a:r>
          </a:p>
          <a:p>
            <a:pPr algn="just">
              <a:spcBef>
                <a:spcPts val="2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Reduces storage and vector search computation in large-scale streaming recommendation backends.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2920" y="960000"/>
            <a:ext cx="3520000" cy="4200000"/>
          </a:xfrm>
          <a:prstGeom prst="roundRect">
            <a:avLst>
              <a:gd name="adj" fmla="val 3500"/>
            </a:avLst>
          </a:prstGeom>
          <a:solidFill>
            <a:srgbClr val="EEF4F9"/>
          </a:solidFill>
          <a:ln w="12700">
            <a:solidFill>
              <a:srgbClr val="B0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2920" y="1100000"/>
            <a:ext cx="3220000" cy="29238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defRPr sz="1700" b="1">
                <a:solidFill>
                  <a:srgbClr val="122F4E"/>
                </a:solidFill>
                <a:latin typeface="Times New Roman"/>
              </a:defRPr>
            </a:pPr>
            <a:r>
              <a:rPr dirty="0"/>
              <a:t>Future Research Directions</a:t>
            </a:r>
          </a:p>
          <a:p>
            <a:pPr algn="just">
              <a:spcBef>
                <a:spcPts val="12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dirty="0"/>
              <a:t>• </a:t>
            </a:r>
            <a:r>
              <a:rPr sz="1400" dirty="0"/>
              <a:t>Non-Linear Manifolds:</a:t>
            </a:r>
          </a:p>
          <a:p>
            <a:pPr algn="just">
              <a:spcBef>
                <a:spcPts val="2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Explore t-SNE and UMAP to capture non-linear musical relationships alongside linear PCA.</a:t>
            </a:r>
          </a:p>
          <a:p>
            <a:pPr algn="just">
              <a:spcBef>
                <a:spcPts val="12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Deep Audio Spectrograms:</a:t>
            </a:r>
          </a:p>
          <a:p>
            <a:pPr algn="just">
              <a:spcBef>
                <a:spcPts val="2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Integrate raw audio spectrogram embeddings via Convolutional Neural Networks (e.g. </a:t>
            </a:r>
            <a:r>
              <a:rPr sz="1200" dirty="0" err="1"/>
              <a:t>VGGish</a:t>
            </a:r>
            <a:r>
              <a:rPr sz="1200" dirty="0"/>
              <a:t> / OpenL3).</a:t>
            </a:r>
          </a:p>
          <a:p>
            <a:pPr algn="just">
              <a:spcBef>
                <a:spcPts val="1200"/>
              </a:spcBef>
              <a:defRPr sz="1200" b="1">
                <a:solidFill>
                  <a:srgbClr val="141923"/>
                </a:solidFill>
                <a:latin typeface="Times New Roman"/>
              </a:defRPr>
            </a:pPr>
            <a:r>
              <a:rPr sz="1400" dirty="0"/>
              <a:t>• Real-Time Streaming Ingestion:</a:t>
            </a:r>
          </a:p>
          <a:p>
            <a:pPr algn="just">
              <a:spcBef>
                <a:spcPts val="200"/>
              </a:spcBef>
              <a:defRPr sz="1100">
                <a:solidFill>
                  <a:srgbClr val="46505F"/>
                </a:solidFill>
                <a:latin typeface="Times New Roman"/>
              </a:defRPr>
            </a:pPr>
            <a:r>
              <a:rPr sz="1200" dirty="0"/>
              <a:t>   Implement Kafka or streaming pipelines to dynamically recompute centroids as new songs release.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00000"/>
            <a:ext cx="11186280" cy="10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27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2920" y="5420000"/>
            <a:ext cx="10786280" cy="5437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1DB954"/>
                </a:solidFill>
                <a:latin typeface="Times New Roman"/>
              </a:defRPr>
            </a:pPr>
            <a:r>
              <a:rPr dirty="0"/>
              <a:t>• </a:t>
            </a:r>
            <a:r>
              <a:rPr sz="1600" dirty="0">
                <a:solidFill>
                  <a:srgbClr val="FF0000"/>
                </a:solidFill>
              </a:rPr>
              <a:t>Interactive Web App: https://spotifymusicfeaturereduction.streamlit.app/   </a:t>
            </a:r>
            <a:endParaRPr lang="en-US" sz="1600" dirty="0">
              <a:solidFill>
                <a:srgbClr val="FF0000"/>
              </a:solidFill>
            </a:endParaRPr>
          </a:p>
          <a:p>
            <a:pPr>
              <a:spcBef>
                <a:spcPts val="400"/>
              </a:spcBef>
              <a:defRPr sz="1200" b="1">
                <a:solidFill>
                  <a:srgbClr val="1DB954"/>
                </a:solidFill>
                <a:latin typeface="Times New Roman"/>
              </a:defRPr>
            </a:pPr>
            <a:r>
              <a:rPr sz="1600" dirty="0">
                <a:solidFill>
                  <a:srgbClr val="FF0000"/>
                </a:solidFill>
              </a:rPr>
              <a:t>• GitHub: https://github.com/Jarrar19/SpotifyMusicFeatureReduction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3532</Words>
  <Application>Microsoft Office PowerPoint</Application>
  <PresentationFormat>Widescreen</PresentationFormat>
  <Paragraphs>355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TAE-1  Project Based Learning  on PCA-Based Feature Reduction under the course Pattern Recognition(N-PECCM703T)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Jarrar Khan</cp:lastModifiedBy>
  <cp:revision>1</cp:revision>
  <dcterms:created xsi:type="dcterms:W3CDTF">2013-01-27T09:14:16Z</dcterms:created>
  <dcterms:modified xsi:type="dcterms:W3CDTF">2026-09-11T13:44:20Z</dcterms:modified>
  <cp:category/>
</cp:coreProperties>
</file>