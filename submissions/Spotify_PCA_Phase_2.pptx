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Explained Variance Across 9 Principal Components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variance (%)</c:v>
                </c:pt>
              </c:strCache>
            </c:strRef>
          </c:tx>
          <c:spPr>
            <a:ln w="28575">
              <a:solidFill>
                <a:srgbClr val="3067C4"/>
              </a:solidFill>
            </a:ln>
          </c:spPr>
          <c:cat>
            <c:strRef>
              <c:f>Sheet1!$A$2:$A$10</c:f>
              <c:strCache>
                <c:ptCount val="9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  <c:pt idx="6">
                  <c:v>PC7</c:v>
                </c:pt>
                <c:pt idx="7">
                  <c:v>PC8</c:v>
                </c:pt>
                <c:pt idx="8">
                  <c:v>PC9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32.119999999999997</c:v>
                </c:pt>
                <c:pt idx="1">
                  <c:v>15.87</c:v>
                </c:pt>
                <c:pt idx="2">
                  <c:v>13.89</c:v>
                </c:pt>
                <c:pt idx="3">
                  <c:v>10</c:v>
                </c:pt>
                <c:pt idx="4">
                  <c:v>9.69</c:v>
                </c:pt>
                <c:pt idx="5">
                  <c:v>8.17</c:v>
                </c:pt>
                <c:pt idx="6">
                  <c:v>5.07</c:v>
                </c:pt>
                <c:pt idx="7">
                  <c:v>3.63</c:v>
                </c:pt>
                <c:pt idx="8">
                  <c:v>1.56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F9-44D3-8128-06459046ED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variance (%)</c:v>
                </c:pt>
              </c:strCache>
            </c:strRef>
          </c:tx>
          <c:spPr>
            <a:ln w="28575">
              <a:solidFill>
                <a:srgbClr val="37915B"/>
              </a:solidFill>
            </a:ln>
          </c:spPr>
          <c:cat>
            <c:strRef>
              <c:f>Sheet1!$A$2:$A$10</c:f>
              <c:strCache>
                <c:ptCount val="9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  <c:pt idx="6">
                  <c:v>PC7</c:v>
                </c:pt>
                <c:pt idx="7">
                  <c:v>PC8</c:v>
                </c:pt>
                <c:pt idx="8">
                  <c:v>PC9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32.119999999999997</c:v>
                </c:pt>
                <c:pt idx="1">
                  <c:v>47.99</c:v>
                </c:pt>
                <c:pt idx="2">
                  <c:v>61.88</c:v>
                </c:pt>
                <c:pt idx="3">
                  <c:v>71.88</c:v>
                </c:pt>
                <c:pt idx="4">
                  <c:v>81.569999999999993</c:v>
                </c:pt>
                <c:pt idx="5">
                  <c:v>89.74</c:v>
                </c:pt>
                <c:pt idx="6">
                  <c:v>94.81</c:v>
                </c:pt>
                <c:pt idx="7">
                  <c:v>98.44</c:v>
                </c:pt>
                <c:pt idx="8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F9-44D3-8128-06459046E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  <c:majorUnit val="20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62E0-B694-70E4-C1B5-1F9FEC302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0D2B2-9A03-5826-6F2A-D13EFD638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A9C96-EA5B-2C0F-3C39-0B35B6D9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31EF-95DF-0837-97E1-918A5325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6381-535B-C7EC-421B-9B29000C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3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60E9-7C2A-DDDD-1031-DFF49572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A6647-83DA-0D8C-7C78-91602B380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5517A-8171-A3F0-F88F-9EE542E1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EC161-8145-5F3E-81BA-7EB8DA96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A9E97-B2C5-17DD-7E06-44C07DF7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6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2A72-48B1-D62A-EDAA-1170C1665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AF1B7-7D3E-A9DB-B312-5575844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8348C-EAC7-DAE9-525C-D9C02E1E3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EAD35-9F5E-7048-BFB8-B1C01895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F103-94A7-0693-1D8B-1F9B898B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6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C2DF-D4F5-A113-ABA2-EA4CE374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9D69-8B6E-D24F-52B5-81F825F71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DF238-A7EE-43DE-3D22-2115EE04E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3ED3A-7398-FAC2-1849-BCC3F0E5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5686F-239A-1431-6C05-D8DA54AE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31342-DBB4-35EA-5FC8-10AE2002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7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13BD-1804-1163-F9D5-4545387C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E20AE-CC31-32DE-21EA-8C4C0B97E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55574-4212-ECF4-F9D6-4ED985BA9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F42298-5F42-FEE4-246F-FE6D64759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C833D-A8C0-F700-F573-B90A9494B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895616-5751-BD16-D670-375E26850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DF2DF-ED1D-85B8-4554-A788F50C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FB9CD9-2892-83EB-0DE3-EEC92C19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3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A924-414B-0FEB-2FFE-38DE2CC3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C8FD0-7C8F-3342-4D0E-AF21BB6D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896C-FBF2-094E-A685-EE9710170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DE44E-FB0F-D277-7AAC-54BD15B0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4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ECCF9-A905-343D-3B3F-44BE45F77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EE9D6-5B71-262F-441D-613B4A99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0E024-1E7D-893D-26D0-DFEC61DA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2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9351-9CF7-F0BC-A11B-03DD14713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EB64-2833-C987-328E-90D71674F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A6EFA-D83D-163F-7EB9-CA3A63218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C94CB-5284-8AEA-BF60-206F9FE6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308EA-2AAE-D5BA-7897-F8D41725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9B687-FDD2-253C-BFB8-F2B13BB81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9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6D27-9CDD-FB2F-3FF8-DF8059FAF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1DC3F-FED2-F25D-204C-1CC8F381E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CE97B-F9FC-0576-6FD1-B76C43D68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7FAA5-9688-2165-98C3-1A1C9A04C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9F805-F3DE-7407-140C-4AE3C578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F591B-0359-E7EF-A1CE-2A207362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2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EF81-DB72-2AC4-87CD-4FB34BD7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6B785-F500-E630-001F-B7E9C3043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BCC8D-E12E-EC41-D714-CEDCDE1E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943B-0974-460B-2F04-C50871A7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BE759-D4C9-B798-1F10-DAE49465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7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0999C-8DDF-DE34-A615-FEB830636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09F10-3CA6-9C71-09FD-22FCBE40E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F9FBA-4575-BF79-375E-E34457C0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71BA7-BE56-3204-740A-527D4D5C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849D8-45F6-F9C2-4C9E-D0BFD19F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F555F-4E22-13D8-3295-4CCEEF88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7E2B9-0004-8ABD-6AEC-E19B72796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587C6-DE91-EA06-0218-C52E21D86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B8275-0653-97F0-6B8C-3BA606319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E175-83C2-2571-042E-BACDC9A0D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0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rrar19/SpotifyMusicFeatureReducti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2237" y="525779"/>
            <a:ext cx="3755923" cy="544067"/>
          </a:xfrm>
          <a:prstGeom prst="round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67C4"/>
                </a:solidFill>
                <a:latin typeface="Aptos"/>
              </a:defRPr>
            </a:pPr>
            <a:r>
              <a:rPr sz="1600" dirty="0"/>
              <a:t>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8273A"/>
                </a:solidFill>
                <a:latin typeface="Aptos Display"/>
              </a:defRPr>
            </a:pPr>
            <a:r>
              <a:t>SPOTIFY MUSIC FEATURE REDUCTION</a:t>
            </a:r>
          </a:p>
          <a:p>
            <a:pPr>
              <a:spcBef>
                <a:spcPts val="700"/>
              </a:spcBef>
              <a:defRPr sz="2000" b="1">
                <a:solidFill>
                  <a:srgbClr val="3067C4"/>
                </a:solidFill>
                <a:latin typeface="Aptos"/>
              </a:defRPr>
            </a:pPr>
            <a:r>
              <a:t>USING PRINCIPAL COMPONENT ANALYSIS (PCA)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4553" y="2478024"/>
            <a:ext cx="48237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8B91"/>
                </a:solidFill>
                <a:latin typeface="Aptos"/>
              </a:defRPr>
            </a:pPr>
            <a:r>
              <a:rPr dirty="0">
                <a:solidFill>
                  <a:schemeClr val="accent2">
                    <a:lumMod val="50000"/>
                  </a:schemeClr>
                </a:solidFill>
              </a:rPr>
              <a:t>Phase 2 — Data Preprocessing &amp; PCA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69818" y="3246120"/>
            <a:ext cx="3611880" cy="2331720"/>
          </a:xfrm>
          <a:prstGeom prst="roundRect">
            <a:avLst/>
          </a:prstGeom>
          <a:solidFill>
            <a:srgbClr val="F0F5FA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635576" y="3657600"/>
            <a:ext cx="1024129" cy="841248"/>
          </a:xfrm>
          <a:prstGeom prst="ellipse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  <a:br/>
            <a:r>
              <a:t>Features</a:t>
            </a:r>
          </a:p>
        </p:txBody>
      </p:sp>
      <p:sp>
        <p:nvSpPr>
          <p:cNvPr id="18" name="Oval 17"/>
          <p:cNvSpPr/>
          <p:nvPr/>
        </p:nvSpPr>
        <p:spPr>
          <a:xfrm>
            <a:off x="2870018" y="3657600"/>
            <a:ext cx="841248" cy="841248"/>
          </a:xfrm>
          <a:prstGeom prst="ellipse">
            <a:avLst/>
          </a:prstGeom>
          <a:solidFill>
            <a:srgbClr val="22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19" name="Oval 18"/>
          <p:cNvSpPr/>
          <p:nvPr/>
        </p:nvSpPr>
        <p:spPr>
          <a:xfrm>
            <a:off x="3830138" y="3657600"/>
            <a:ext cx="841248" cy="841248"/>
          </a:xfrm>
          <a:prstGeom prst="ellipse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  <a:br/>
            <a:r>
              <a:t>PCs</a:t>
            </a:r>
          </a:p>
        </p:txBody>
      </p:sp>
      <p:sp>
        <p:nvSpPr>
          <p:cNvPr id="20" name="Chevron 19"/>
          <p:cNvSpPr/>
          <p:nvPr/>
        </p:nvSpPr>
        <p:spPr>
          <a:xfrm>
            <a:off x="2467682" y="3931920"/>
            <a:ext cx="320040" cy="292608"/>
          </a:xfrm>
          <a:prstGeom prst="chevron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3692978" y="3931920"/>
            <a:ext cx="320040" cy="292608"/>
          </a:xfrm>
          <a:prstGeom prst="chevron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89858" y="4754880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73A"/>
                </a:solidFill>
                <a:latin typeface="Aptos"/>
              </a:defRPr>
            </a:pPr>
            <a:r>
              <a:rPr dirty="0"/>
              <a:t>94.81% variance retained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6E8814-8F33-CFE5-1D74-86940224BFF6}"/>
              </a:ext>
            </a:extLst>
          </p:cNvPr>
          <p:cNvSpPr txBox="1"/>
          <p:nvPr/>
        </p:nvSpPr>
        <p:spPr>
          <a:xfrm>
            <a:off x="4689986" y="54412"/>
            <a:ext cx="2812027" cy="466794"/>
          </a:xfrm>
          <a:prstGeom prst="rect">
            <a:avLst/>
          </a:prstGeom>
          <a:noFill/>
          <a:ln>
            <a:noFill/>
          </a:ln>
        </p:spPr>
        <p:txBody>
          <a:bodyPr wrap="square" lIns="88900" tIns="63500" rIns="88900" bIns="63500" anchor="ctr">
            <a:spAutoFit/>
          </a:bodyPr>
          <a:lstStyle/>
          <a:p>
            <a:pPr algn="ctr">
              <a:defRPr sz="2200" b="1">
                <a:solidFill>
                  <a:srgbClr val="193056"/>
                </a:solidFill>
                <a:latin typeface="Times New Roman"/>
              </a:defRPr>
            </a:pPr>
            <a:r>
              <a:rPr dirty="0"/>
              <a:t>TAE-I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CCE3C0-F941-6205-C7F5-EDA59CDEA434}"/>
              </a:ext>
            </a:extLst>
          </p:cNvPr>
          <p:cNvSpPr txBox="1"/>
          <p:nvPr/>
        </p:nvSpPr>
        <p:spPr>
          <a:xfrm>
            <a:off x="2311004" y="5653323"/>
            <a:ext cx="6949440" cy="359073"/>
          </a:xfrm>
          <a:prstGeom prst="rect">
            <a:avLst/>
          </a:prstGeom>
          <a:noFill/>
          <a:ln>
            <a:noFill/>
          </a:ln>
        </p:spPr>
        <p:txBody>
          <a:bodyPr wrap="square" lIns="88900" tIns="63500" rIns="88900" bIns="63500" anchor="ctr">
            <a:spAutoFit/>
          </a:bodyPr>
          <a:lstStyle/>
          <a:p>
            <a:pPr algn="ctr">
              <a:defRPr sz="1500" b="1">
                <a:solidFill>
                  <a:srgbClr val="B9891C"/>
                </a:solidFill>
                <a:latin typeface="Times New Roman"/>
              </a:defRPr>
            </a:pPr>
            <a:r>
              <a:rPr lang="en-US" dirty="0"/>
              <a:t>Pattern Recognition </a:t>
            </a:r>
            <a:r>
              <a:rPr dirty="0"/>
              <a:t>(N-PECCM70</a:t>
            </a:r>
            <a:r>
              <a:rPr lang="en-US" dirty="0"/>
              <a:t>3</a:t>
            </a:r>
            <a:r>
              <a:rPr dirty="0"/>
              <a:t>T)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D11063-2C4E-7B2A-ACB7-C9C5D528B37D}"/>
              </a:ext>
            </a:extLst>
          </p:cNvPr>
          <p:cNvSpPr txBox="1"/>
          <p:nvPr/>
        </p:nvSpPr>
        <p:spPr>
          <a:xfrm>
            <a:off x="1027502" y="5938356"/>
            <a:ext cx="3200400" cy="559127"/>
          </a:xfrm>
          <a:prstGeom prst="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txBody>
          <a:bodyPr wrap="square" lIns="88900" tIns="63500" rIns="88900" bIns="63500" anchor="ctr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Times New Roman"/>
              </a:defRPr>
            </a:pPr>
            <a:r>
              <a:rPr dirty="0"/>
              <a:t>Presented By:</a:t>
            </a:r>
            <a:br>
              <a:rPr dirty="0"/>
            </a:br>
            <a:r>
              <a:rPr lang="en-US" dirty="0"/>
              <a:t>Jarrar Khan(CM23018)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CB773-7BB1-F90D-89CB-AB0C26F7AF3B}"/>
              </a:ext>
            </a:extLst>
          </p:cNvPr>
          <p:cNvSpPr txBox="1"/>
          <p:nvPr/>
        </p:nvSpPr>
        <p:spPr>
          <a:xfrm>
            <a:off x="7343546" y="5965231"/>
            <a:ext cx="3200400" cy="559127"/>
          </a:xfrm>
          <a:prstGeom prst="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txBody>
          <a:bodyPr wrap="square" lIns="88900" tIns="63500" rIns="88900" bIns="63500" anchor="ctr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  <a:latin typeface="Times New Roman"/>
              </a:defRPr>
            </a:pPr>
            <a:r>
              <a:rPr dirty="0"/>
              <a:t>Under the Guidance of</a:t>
            </a:r>
            <a:br>
              <a:rPr dirty="0"/>
            </a:br>
            <a:r>
              <a:rPr dirty="0"/>
              <a:t>Mrs. </a:t>
            </a:r>
            <a:r>
              <a:rPr lang="en-ID" sz="1400" dirty="0"/>
              <a:t>Mayuri </a:t>
            </a:r>
            <a:r>
              <a:rPr lang="en-ID" sz="1400" dirty="0" err="1"/>
              <a:t>Getme</a:t>
            </a:r>
            <a:endParaRPr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48127C3-BE3F-2564-AF58-98BCB7BCC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658" y="3048118"/>
            <a:ext cx="4943323" cy="21217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Phase 2: What We Needed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5"/>
                </a:solidFill>
                <a:latin typeface="Aptos"/>
              </a:defRPr>
            </a:pPr>
            <a:r>
              <a:t>Prepare reliable audio-feature data and reduce its dimensionality using PCA.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77240" y="1655063"/>
            <a:ext cx="438912" cy="438912"/>
          </a:xfrm>
          <a:prstGeom prst="ellipse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636776"/>
            <a:ext cx="11887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73A"/>
                </a:solidFill>
              </a:defRPr>
            </a:pPr>
            <a:r>
              <a:rPr sz="1600" dirty="0">
                <a:solidFill>
                  <a:schemeClr val="bg2">
                    <a:lumMod val="10000"/>
                  </a:schemeClr>
                </a:solidFill>
              </a:rPr>
              <a:t>Explore</a:t>
            </a:r>
          </a:p>
          <a:p>
            <a:pPr>
              <a:defRPr sz="950">
                <a:solidFill>
                  <a:srgbClr val="5C6875"/>
                </a:solidFill>
              </a:defRPr>
            </a:pPr>
            <a:r>
              <a:rPr sz="1050" dirty="0">
                <a:solidFill>
                  <a:schemeClr val="bg2">
                    <a:lumMod val="10000"/>
                  </a:schemeClr>
                </a:solidFill>
              </a:rPr>
              <a:t>Understand rows, columns, missing values and duplicates.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063240" y="1655063"/>
            <a:ext cx="438912" cy="438912"/>
          </a:xfrm>
          <a:prstGeom prst="ellipse">
            <a:avLst/>
          </a:prstGeom>
          <a:solidFill>
            <a:srgbClr val="22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636776"/>
            <a:ext cx="11887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73A"/>
                </a:solidFill>
              </a:defRPr>
            </a:pPr>
            <a:r>
              <a:rPr sz="1600">
                <a:solidFill>
                  <a:schemeClr val="bg2">
                    <a:lumMod val="10000"/>
                  </a:schemeClr>
                </a:solidFill>
              </a:rPr>
              <a:t>Clean</a:t>
            </a:r>
          </a:p>
          <a:p>
            <a:pPr>
              <a:defRPr sz="950">
                <a:solidFill>
                  <a:srgbClr val="5C6875"/>
                </a:solidFill>
              </a:defRPr>
            </a:pPr>
            <a:r>
              <a:rPr sz="1050">
                <a:solidFill>
                  <a:schemeClr val="bg2">
                    <a:lumMod val="10000"/>
                  </a:schemeClr>
                </a:solidFill>
              </a:rPr>
              <a:t>Remove repeated track IDs while preserving useful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5087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349240" y="1655063"/>
            <a:ext cx="438912" cy="438912"/>
          </a:xfrm>
          <a:prstGeom prst="ellipse">
            <a:avLst/>
          </a:prstGeom>
          <a:solidFill>
            <a:srgbClr val="DC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636776"/>
            <a:ext cx="11887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73A"/>
                </a:solidFill>
              </a:defRPr>
            </a:pPr>
            <a:r>
              <a:rPr sz="1600">
                <a:solidFill>
                  <a:schemeClr val="bg2">
                    <a:lumMod val="10000"/>
                  </a:schemeClr>
                </a:solidFill>
              </a:rPr>
              <a:t>Standardize</a:t>
            </a:r>
          </a:p>
          <a:p>
            <a:pPr>
              <a:defRPr sz="950">
                <a:solidFill>
                  <a:srgbClr val="5C6875"/>
                </a:solidFill>
              </a:defRPr>
            </a:pPr>
            <a:r>
              <a:rPr sz="1050">
                <a:solidFill>
                  <a:schemeClr val="bg2">
                    <a:lumMod val="10000"/>
                  </a:schemeClr>
                </a:solidFill>
              </a:rPr>
              <a:t>Put the 9 selected audio features on a comparable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5087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635240" y="1655063"/>
            <a:ext cx="438912" cy="438912"/>
          </a:xfrm>
          <a:prstGeom prst="ellipse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1636776"/>
            <a:ext cx="11887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73A"/>
                </a:solidFill>
              </a:defRPr>
            </a:pPr>
            <a:r>
              <a:rPr sz="1600">
                <a:solidFill>
                  <a:schemeClr val="bg2">
                    <a:lumMod val="10000"/>
                  </a:schemeClr>
                </a:solidFill>
              </a:rPr>
              <a:t>Apply PCA</a:t>
            </a:r>
          </a:p>
          <a:p>
            <a:pPr>
              <a:defRPr sz="950">
                <a:solidFill>
                  <a:srgbClr val="5C6875"/>
                </a:solidFill>
              </a:defRPr>
            </a:pPr>
            <a:r>
              <a:rPr sz="1050">
                <a:solidFill>
                  <a:schemeClr val="bg2">
                    <a:lumMod val="10000"/>
                  </a:schemeClr>
                </a:solidFill>
              </a:rPr>
              <a:t>Find principal components and choose a compact representation.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508760"/>
            <a:ext cx="1737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921240" y="1655063"/>
            <a:ext cx="438912" cy="438912"/>
          </a:xfrm>
          <a:prstGeom prst="ellipse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00">
                <a:solidFill>
                  <a:schemeClr val="bg2">
                    <a:lumMod val="10000"/>
                  </a:schemeClr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97311" y="1636776"/>
            <a:ext cx="86868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73A"/>
                </a:solidFill>
              </a:defRPr>
            </a:pPr>
            <a:r>
              <a:rPr sz="1600">
                <a:solidFill>
                  <a:schemeClr val="bg2">
                    <a:lumMod val="10000"/>
                  </a:schemeClr>
                </a:solidFill>
              </a:rPr>
              <a:t>Save</a:t>
            </a:r>
          </a:p>
          <a:p>
            <a:pPr>
              <a:defRPr sz="950">
                <a:solidFill>
                  <a:srgbClr val="5C6875"/>
                </a:solidFill>
              </a:defRPr>
            </a:pPr>
            <a:r>
              <a:rPr sz="1050">
                <a:solidFill>
                  <a:schemeClr val="bg2">
                    <a:lumMod val="10000"/>
                  </a:schemeClr>
                </a:solidFill>
              </a:rPr>
              <a:t>Export PCA data and analysis outputs for Phase 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6324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352896"/>
            <a:ext cx="4800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rPr dirty="0"/>
              <a:t>• PCA is used for dimensionality reduction, not for creating clusters.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StandardScaler</a:t>
            </a:r>
            <a:r>
              <a:rPr dirty="0"/>
              <a:t> was applied before PCA because the audio features use different units and ranges.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rPr dirty="0"/>
              <a:t>• The final PCA representation is intended for later clustering and visualization.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ectangle 22"/>
          <p:cNvSpPr/>
          <p:nvPr/>
        </p:nvSpPr>
        <p:spPr>
          <a:xfrm>
            <a:off x="6263640" y="3063240"/>
            <a:ext cx="73152" cy="105156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464807" y="3209544"/>
            <a:ext cx="4754879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sz="1200"/>
              <a:t>KEY DESIGN CHOICE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400"/>
              <a:t>9 audio features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/>
              <a:t>Focus on measurable musical characteristics rather than IDs and metadata.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315968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6263640" y="4315968"/>
            <a:ext cx="73152" cy="1051560"/>
          </a:xfrm>
          <a:prstGeom prst="rect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6464807" y="4462272"/>
            <a:ext cx="4754879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sz="1200"/>
              <a:t>PHASE 2 OUTPUT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400"/>
              <a:t>89,741 × 7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/>
              <a:t>Reduced data aligned with track metadata.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1. Dataset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5"/>
                </a:solidFill>
                <a:latin typeface="Aptos"/>
              </a:defRPr>
            </a:pPr>
            <a:r>
              <a:t>Initial inspection established the structure and data-quality issues before preprocessing.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23444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ROWS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114,000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tracks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73152" cy="1234440"/>
          </a:xfrm>
          <a:prstGeom prst="rect">
            <a:avLst/>
          </a:prstGeom>
          <a:solidFill>
            <a:srgbClr val="22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472184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COLUMNS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20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metadata + audio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73152" cy="1234440"/>
          </a:xfrm>
          <a:prstGeom prst="rect">
            <a:avLst/>
          </a:prstGeom>
          <a:solidFill>
            <a:srgbClr val="DC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472184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NUMERICAL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14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numeric columns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1325880"/>
            <a:ext cx="73152" cy="123444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0848" y="1472184"/>
            <a:ext cx="2194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DUPLICATE ROWS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450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exact duplicate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80360"/>
            <a:ext cx="5212080" cy="2514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808080"/>
              </a:highligh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3081528"/>
            <a:ext cx="4709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Missing values were found in artists, album_name and track_name — one each.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All 9 planned PCA audio features had no missing values.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The raw data contained repeated track_id values, which required a track-level duplicate check.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80360"/>
            <a:ext cx="5656006" cy="2514600"/>
          </a:xfrm>
          <a:prstGeom prst="roundRect">
            <a:avLst/>
          </a:prstGeom>
          <a:solidFill>
            <a:srgbClr val="EFF6FC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446520" y="3127248"/>
            <a:ext cx="5276188" cy="1415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3A"/>
                </a:solidFill>
              </a:defRPr>
            </a:pPr>
            <a:r>
              <a:rPr dirty="0"/>
              <a:t>Important finding</a:t>
            </a:r>
          </a:p>
          <a:p>
            <a:pPr>
              <a:spcBef>
                <a:spcPts val="1000"/>
              </a:spcBef>
              <a:defRPr sz="1500" b="1">
                <a:solidFill>
                  <a:srgbClr val="3067C4"/>
                </a:solidFill>
              </a:defRPr>
            </a:pPr>
            <a:r>
              <a:rPr sz="1600" dirty="0"/>
              <a:t>40,900 rows belonged to duplicated </a:t>
            </a:r>
            <a:r>
              <a:rPr sz="1600" dirty="0" err="1"/>
              <a:t>track_id</a:t>
            </a:r>
            <a:r>
              <a:rPr sz="1600" dirty="0"/>
              <a:t> values.</a:t>
            </a:r>
          </a:p>
          <a:p>
            <a:pPr>
              <a:spcBef>
                <a:spcPts val="1000"/>
              </a:spcBef>
              <a:defRPr sz="1200">
                <a:solidFill>
                  <a:srgbClr val="5C6875"/>
                </a:solidFill>
              </a:defRPr>
            </a:pPr>
            <a:r>
              <a:rPr sz="1400" dirty="0"/>
              <a:t>Across repeated track IDs, all 9 selected audio features were identical.</a:t>
            </a:r>
            <a:endParaRPr lang="en-US" sz="1400" dirty="0"/>
          </a:p>
          <a:p>
            <a:pPr>
              <a:spcBef>
                <a:spcPts val="1000"/>
              </a:spcBef>
              <a:defRPr sz="1200">
                <a:solidFill>
                  <a:srgbClr val="5C6875"/>
                </a:solidFill>
              </a:defRPr>
            </a:pPr>
            <a:r>
              <a:rPr sz="1400" dirty="0"/>
              <a:t> This supported </a:t>
            </a:r>
            <a:r>
              <a:rPr sz="1400" dirty="0" err="1"/>
              <a:t>track_id</a:t>
            </a:r>
            <a:r>
              <a:rPr sz="1400" dirty="0"/>
              <a:t>-level deduplication for the PCA dataset.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2. Cleaning: Track-Level 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5"/>
                </a:solidFill>
                <a:latin typeface="Aptos"/>
              </a:defRPr>
            </a:pPr>
            <a:r>
              <a:t>Repeated track IDs were removed because they represented the same audio-feature vector.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41732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17904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BEFORE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114,000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raw rows</a:t>
            </a:r>
          </a:p>
        </p:txBody>
      </p:sp>
      <p:sp>
        <p:nvSpPr>
          <p:cNvPr id="8" name="Chevron 7"/>
          <p:cNvSpPr/>
          <p:nvPr/>
        </p:nvSpPr>
        <p:spPr>
          <a:xfrm>
            <a:off x="3794760" y="1691640"/>
            <a:ext cx="914400" cy="685800"/>
          </a:xfrm>
          <a:prstGeom prst="chevron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92040" y="1371600"/>
            <a:ext cx="73152" cy="141732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93207" y="1517904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REMOVED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24,259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extra repeated track_id occurrences</a:t>
            </a:r>
          </a:p>
        </p:txBody>
      </p:sp>
      <p:sp>
        <p:nvSpPr>
          <p:cNvPr id="12" name="Chevron 11"/>
          <p:cNvSpPr/>
          <p:nvPr/>
        </p:nvSpPr>
        <p:spPr>
          <a:xfrm>
            <a:off x="8001000" y="1691640"/>
            <a:ext cx="914400" cy="685800"/>
          </a:xfrm>
          <a:prstGeom prst="chevron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98280" y="13716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98280" y="1371600"/>
            <a:ext cx="73152" cy="1417320"/>
          </a:xfrm>
          <a:prstGeom prst="rect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1517904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AFTER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89,741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unique track 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447288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Deduplication key: track_id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Kept the first occurrence of each track_id.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Metadata was extracted in the same row order so it remains aligned with the PCA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461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3447288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Why not remove by track_name + artists? A track can appear with different metadata or genre labels.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For repeated track IDs, the selected audio features were 100% identical.</a:t>
            </a:r>
          </a:p>
          <a:p>
            <a:pPr>
              <a:spcAft>
                <a:spcPts val="1000"/>
              </a:spcAft>
              <a:defRPr sz="1400">
                <a:solidFill>
                  <a:srgbClr val="18273A"/>
                </a:solidFill>
                <a:latin typeface="Aptos"/>
              </a:defRPr>
            </a:pPr>
            <a:r>
              <a:t>• This makes track_id the safer basis for this PCA preprocessing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5"/>
                </a:solidFill>
              </a:defRPr>
            </a:pPr>
            <a:r>
              <a:t>Spotify Music Feature Reduction • 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3. Feature Selection &amp; Standardization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5"/>
                </a:solidFill>
                <a:latin typeface="Aptos"/>
              </a:defRPr>
            </a:pPr>
            <a:r>
              <a:t>Only the audio characteristics relevant to PCA were retained.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danceability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loudness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84832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speechiness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84832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acousticness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84832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instrumentalness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98064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liveness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798064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valence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98064"/>
            <a:ext cx="166420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/>
              <a:t>tempo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353312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1353312"/>
            <a:ext cx="73152" cy="1417320"/>
          </a:xfrm>
          <a:prstGeom prst="rect">
            <a:avLst/>
          </a:prstGeom>
          <a:solidFill>
            <a:srgbClr val="DC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1499616"/>
            <a:ext cx="45262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EXCLUDED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IDs &amp; metadata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track_id, artist, album, genre etc. are not PCA audio dimensions.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97180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2971800"/>
            <a:ext cx="73152" cy="141732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84848" y="3118104"/>
            <a:ext cx="45262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STANDARDIZATION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Mean ≈ 0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Each selected feature was transformed to a comparable scale using StandardScaler.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590288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4590288"/>
            <a:ext cx="73152" cy="1143000"/>
          </a:xfrm>
          <a:prstGeom prst="rect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4736592"/>
            <a:ext cx="4526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RESULT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9 standardized dimensions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Ready for PCA.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534924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73A"/>
                </a:solidFill>
              </a:defRPr>
            </a:pPr>
            <a:r>
              <a:rPr dirty="0"/>
              <a:t>Why standardize?</a:t>
            </a:r>
          </a:p>
          <a:p>
            <a:pPr>
              <a:spcBef>
                <a:spcPts val="800"/>
              </a:spcBef>
              <a:defRPr sz="1200">
                <a:solidFill>
                  <a:srgbClr val="5C6875"/>
                </a:solidFill>
              </a:defRPr>
            </a:pPr>
            <a:r>
              <a:rPr sz="1400" dirty="0"/>
              <a:t>The features have different scales — for example, tempo is measured in BPM while loudness is measured in </a:t>
            </a:r>
            <a:r>
              <a:rPr sz="1400" dirty="0" err="1"/>
              <a:t>dB.</a:t>
            </a:r>
            <a:r>
              <a:rPr sz="1400" dirty="0"/>
              <a:t> Standardization prevents scale differences from dominating PCA</a:t>
            </a:r>
            <a:r>
              <a:rPr dirty="0"/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5"/>
                </a:solidFill>
              </a:defRPr>
            </a:pPr>
            <a:r>
              <a:t>Spotify Music Feature Reduction • 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4. PCA Results: Choosing the Number of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5"/>
                </a:solidFill>
                <a:latin typeface="Aptos"/>
              </a:defRPr>
            </a:pPr>
            <a:r>
              <a:t>The cumulative explained variance was used to choose a compact representation.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25880"/>
          <a:ext cx="69494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3716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371600"/>
            <a:ext cx="73152" cy="1234440"/>
          </a:xfrm>
          <a:prstGeom prst="rect">
            <a:avLst/>
          </a:prstGeom>
          <a:solidFill>
            <a:srgbClr val="DC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8" y="1517904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6 PCs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89.74%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just below the 90%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7889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09560" y="2788920"/>
            <a:ext cx="73152" cy="1234440"/>
          </a:xfrm>
          <a:prstGeom prst="rect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8" y="2935224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7 PCs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94.81%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chosen for the final reduced representation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2062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4206240"/>
            <a:ext cx="73152" cy="123444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4352544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t>2 PCs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t>47.99%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t>useful for visualization, not the full information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875"/>
                </a:solidFill>
              </a:defRPr>
            </a:pPr>
            <a:r>
              <a:t>Spotify Music Feature Reduction • 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5. What the Principal Components Represent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5"/>
                </a:solidFill>
                <a:latin typeface="Aptos"/>
              </a:defRPr>
            </a:pPr>
            <a:r>
              <a:t>Loadings show which original audio features contribute most strongly to each component.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143000" cy="502920"/>
          </a:xfrm>
          <a:prstGeom prst="round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1100"/>
              <a:t>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371600"/>
            <a:ext cx="2240280" cy="502920"/>
          </a:xfrm>
          <a:prstGeom prst="round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1100"/>
              <a:t>Strong loading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71600"/>
            <a:ext cx="2240280" cy="502920"/>
          </a:xfrm>
          <a:prstGeom prst="round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1100"/>
              <a:t>Strong loading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71600"/>
            <a:ext cx="2240280" cy="502920"/>
          </a:xfrm>
          <a:prstGeom prst="round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1100"/>
              <a:t>Strong loading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1508760" cy="502920"/>
          </a:xfrm>
          <a:prstGeom prst="round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1100"/>
              <a:t>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1143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 b="1"/>
              <a:t>PC1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965960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loudness (+0.515)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965960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energy (+0.505)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65960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acousticness (−0.433)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965960"/>
            <a:ext cx="1508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≈ 32.12%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15768"/>
            <a:ext cx="114300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 b="1"/>
              <a:t>PC2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2715768"/>
            <a:ext cx="224028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danceability (+0.562)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715768"/>
            <a:ext cx="224028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valence (+0.527)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15768"/>
            <a:ext cx="224028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acousticness (+0.315)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715768"/>
            <a:ext cx="150876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≈ 15.87%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65576"/>
            <a:ext cx="1143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 b="1"/>
              <a:t>PC3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3465576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liveness (+0.673)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465576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speechiness (+0.641)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465576"/>
            <a:ext cx="2240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acousticness (+0.217)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465576"/>
            <a:ext cx="1508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≈ 13.89%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15383"/>
            <a:ext cx="114300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273A"/>
                </a:solidFill>
              </a:defRPr>
            </a:pPr>
            <a:r>
              <a:rPr sz="1200" b="1"/>
              <a:t>PC4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4215383"/>
            <a:ext cx="224028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tempo (+0.657)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4215383"/>
            <a:ext cx="224028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instrumentalness (−0.495)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215383"/>
            <a:ext cx="224028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danceability (−0.317)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4215383"/>
            <a:ext cx="1508760" cy="594360"/>
          </a:xfrm>
          <a:prstGeom prst="roundRect">
            <a:avLst/>
          </a:prstGeom>
          <a:solidFill>
            <a:srgbClr val="F3F6F9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5"/>
                </a:solidFill>
              </a:defRPr>
            </a:pPr>
            <a:r>
              <a:rPr sz="1200" b="1"/>
              <a:t>≈ 10.00%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18472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5218472"/>
            <a:ext cx="73152" cy="86868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5364776"/>
            <a:ext cx="306324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dirty="0"/>
              <a:t>PC1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000" dirty="0"/>
              <a:t>Energy / intensity pattern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 dirty="0"/>
              <a:t>loudness &amp; energy ↑, </a:t>
            </a:r>
            <a:r>
              <a:rPr sz="1050" dirty="0" err="1"/>
              <a:t>acousticness</a:t>
            </a:r>
            <a:r>
              <a:rPr sz="1050" dirty="0"/>
              <a:t> 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42816" y="5479076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43400" y="5218472"/>
            <a:ext cx="45719" cy="1159292"/>
          </a:xfrm>
          <a:prstGeom prst="rect">
            <a:avLst/>
          </a:prstGeom>
          <a:solidFill>
            <a:srgbClr val="22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44568" y="5364776"/>
            <a:ext cx="306324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dirty="0"/>
              <a:t>PC2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000" dirty="0"/>
              <a:t>Danceability / mood pattern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 dirty="0"/>
              <a:t>danceability &amp; valence dominate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5218472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01000" y="5218472"/>
            <a:ext cx="73152" cy="868680"/>
          </a:xfrm>
          <a:prstGeom prst="rect">
            <a:avLst/>
          </a:prstGeom>
          <a:solidFill>
            <a:srgbClr val="DC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2168" y="5364776"/>
            <a:ext cx="306324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dirty="0"/>
              <a:t>PC3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000" dirty="0"/>
              <a:t>Live / speech pattern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 dirty="0"/>
              <a:t>liveness &amp; </a:t>
            </a:r>
            <a:r>
              <a:rPr sz="1050" dirty="0" err="1"/>
              <a:t>speechiness</a:t>
            </a:r>
            <a:r>
              <a:rPr sz="1050" dirty="0"/>
              <a:t> dominate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3A"/>
                </a:solidFill>
                <a:latin typeface="Aptos Display"/>
              </a:defRPr>
            </a:pPr>
            <a:r>
              <a:t>6. Validation, Outputs &amp; Phase 2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63499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875"/>
                </a:solidFill>
                <a:latin typeface="Aptos"/>
              </a:defRPr>
            </a:pPr>
            <a:r>
              <a:rPr sz="1400"/>
              <a:t>The cleaned PCA pipeline is complete and ready for clustering and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234440"/>
          </a:xfrm>
          <a:prstGeom prst="rect">
            <a:avLst/>
          </a:prstGeom>
          <a:solidFill>
            <a:srgbClr val="DC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219456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sz="1200"/>
              <a:t>6 PCs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400"/>
              <a:t>89.74%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/>
              <a:t>variance retained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73152" cy="1234440"/>
          </a:xfrm>
          <a:prstGeom prst="rect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3584448" y="1472184"/>
            <a:ext cx="219456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sz="1200"/>
              <a:t>7 PCs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400"/>
              <a:t>94.81%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/>
              <a:t>variance retained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73152" cy="1234440"/>
          </a:xfrm>
          <a:prstGeom prst="rect">
            <a:avLst/>
          </a:prstGeom>
          <a:solidFill>
            <a:srgbClr val="306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327648" y="1472184"/>
            <a:ext cx="219456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sz="1200"/>
              <a:t>7-PC MSE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400"/>
              <a:t>0.0519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/>
              <a:t>reconstruction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8869680" y="1325880"/>
            <a:ext cx="73152" cy="1234440"/>
          </a:xfrm>
          <a:prstGeom prst="rect">
            <a:avLst/>
          </a:prstGeom>
          <a:solidFill>
            <a:srgbClr val="22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9070848" y="1472184"/>
            <a:ext cx="219456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C6875"/>
                </a:solidFill>
                <a:latin typeface="Aptos"/>
              </a:defRPr>
            </a:pPr>
            <a:r>
              <a:rPr sz="1200"/>
              <a:t>2D VIEW</a:t>
            </a:r>
          </a:p>
          <a:p>
            <a:pPr>
              <a:spcBef>
                <a:spcPts val="500"/>
              </a:spcBef>
              <a:defRPr sz="2300" b="1">
                <a:solidFill>
                  <a:srgbClr val="18273A"/>
                </a:solidFill>
                <a:latin typeface="Aptos Display"/>
              </a:defRPr>
            </a:pPr>
            <a:r>
              <a:rPr sz="2400"/>
              <a:t>47.99%</a:t>
            </a:r>
          </a:p>
          <a:p>
            <a:pPr>
              <a:spcBef>
                <a:spcPts val="500"/>
              </a:spcBef>
              <a:defRPr sz="1000">
                <a:solidFill>
                  <a:srgbClr val="5C6875"/>
                </a:solidFill>
                <a:latin typeface="Aptos"/>
              </a:defRPr>
            </a:pPr>
            <a:r>
              <a:rPr sz="1050"/>
              <a:t>PC1 + PC2 variance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8036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81528"/>
            <a:ext cx="475488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rPr sz="1400"/>
              <a:t>• cleaned_selected_audio_features.csv</a:t>
            </a:r>
          </a:p>
          <a:p>
            <a:pPr>
              <a:spcAft>
                <a:spcPts val="10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rPr sz="1400"/>
              <a:t>• cleaned_standardized_audio_features.csv</a:t>
            </a:r>
          </a:p>
          <a:p>
            <a:pPr>
              <a:spcAft>
                <a:spcPts val="10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rPr sz="1400"/>
              <a:t>• cleaned_track_metadata.csv</a:t>
            </a:r>
          </a:p>
          <a:p>
            <a:pPr>
              <a:spcAft>
                <a:spcPts val="10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rPr sz="1400"/>
              <a:t>• cleaned_pca_explained_variance.csv</a:t>
            </a:r>
          </a:p>
          <a:p>
            <a:pPr>
              <a:spcAft>
                <a:spcPts val="10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rPr sz="1400"/>
              <a:t>• cleaned_pca_loadings.csv</a:t>
            </a:r>
          </a:p>
          <a:p>
            <a:pPr>
              <a:spcAft>
                <a:spcPts val="10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rPr sz="1400"/>
              <a:t>• cleaned_pca_reconstruction_error.csv</a:t>
            </a:r>
          </a:p>
          <a:p>
            <a:pPr>
              <a:spcAft>
                <a:spcPts val="1000"/>
              </a:spcAft>
              <a:defRPr sz="1200">
                <a:solidFill>
                  <a:srgbClr val="18273A"/>
                </a:solidFill>
                <a:latin typeface="Aptos"/>
              </a:defRPr>
            </a:pPr>
            <a:r>
              <a:rPr sz="1400"/>
              <a:t>• cleaned_pca_reduced_data.csv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880360"/>
            <a:ext cx="5257800" cy="2423160"/>
          </a:xfrm>
          <a:prstGeom prst="roundRect">
            <a:avLst/>
          </a:prstGeom>
          <a:solidFill>
            <a:srgbClr val="EFF7F2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127248"/>
            <a:ext cx="4719625" cy="1490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3A"/>
                </a:solidFill>
              </a:defRPr>
            </a:pPr>
            <a:r>
              <a:rPr sz="2000"/>
              <a:t>Phase 2 conclusion</a:t>
            </a:r>
          </a:p>
          <a:p>
            <a:pPr>
              <a:spcBef>
                <a:spcPts val="700"/>
              </a:spcBef>
              <a:defRPr sz="1150">
                <a:solidFill>
                  <a:srgbClr val="5C6875"/>
                </a:solidFill>
              </a:defRPr>
            </a:pPr>
            <a:r>
              <a:rPr sz="1200"/>
              <a:t>• The raw dataset was reduced from 114,000 to 89,741 unique track IDs.</a:t>
            </a:r>
          </a:p>
          <a:p>
            <a:pPr>
              <a:spcBef>
                <a:spcPts val="700"/>
              </a:spcBef>
              <a:defRPr sz="1150">
                <a:solidFill>
                  <a:srgbClr val="5C6875"/>
                </a:solidFill>
              </a:defRPr>
            </a:pPr>
            <a:r>
              <a:rPr sz="1200"/>
              <a:t>• Nine audio features were standardized and transformed using PCA.</a:t>
            </a:r>
          </a:p>
          <a:p>
            <a:pPr>
              <a:spcBef>
                <a:spcPts val="700"/>
              </a:spcBef>
              <a:defRPr sz="1150">
                <a:solidFill>
                  <a:srgbClr val="5C6875"/>
                </a:solidFill>
              </a:defRPr>
            </a:pPr>
            <a:r>
              <a:rPr sz="1200"/>
              <a:t>• Seven principal components retain 94.81% of the variance.</a:t>
            </a:r>
          </a:p>
          <a:p>
            <a:pPr>
              <a:spcBef>
                <a:spcPts val="700"/>
              </a:spcBef>
              <a:defRPr sz="1150">
                <a:solidFill>
                  <a:srgbClr val="5C6875"/>
                </a:solidFill>
              </a:defRPr>
            </a:pPr>
            <a:r>
              <a:rPr sz="1200"/>
              <a:t>• The 7-PC representation is ready for Phase 3 clustering.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504688"/>
            <a:ext cx="10771632" cy="566928"/>
          </a:xfrm>
          <a:prstGeom prst="round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067C4"/>
                </a:solidFill>
              </a:defRPr>
            </a:pPr>
            <a:r>
              <a:rPr sz="1400" dirty="0"/>
              <a:t>NEXT → Phase 3: K-Means clustering • choose K using evaluation metrics • PC1 vs PC2 visualization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11225330" y="653796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rPr sz="1000"/>
              <a:t>8</a:t>
            </a:r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6E63E654-5A42-7E6E-2D03-3EC9D03D928A}"/>
              </a:ext>
            </a:extLst>
          </p:cNvPr>
          <p:cNvSpPr/>
          <p:nvPr/>
        </p:nvSpPr>
        <p:spPr>
          <a:xfrm>
            <a:off x="621792" y="6153912"/>
            <a:ext cx="10771632" cy="5669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067C4"/>
                </a:solidFill>
              </a:defRPr>
            </a:pPr>
            <a:r>
              <a:rPr lang="en-US" sz="1400" dirty="0" err="1"/>
              <a:t>Github</a:t>
            </a:r>
            <a:r>
              <a:rPr lang="en-US" sz="1400" dirty="0"/>
              <a:t> :- https</a:t>
            </a:r>
            <a:r>
              <a:rPr lang="en-US" sz="1400" dirty="0">
                <a:hlinkClick r:id="rId2"/>
              </a:rPr>
              <a:t>://github.com/Jarrar19/SpotifyMusicFeatureReduction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966</Words>
  <Application>Microsoft Office PowerPoint</Application>
  <PresentationFormat>Widescreen</PresentationFormat>
  <Paragraphs>184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Jarrar Khan</cp:lastModifiedBy>
  <cp:revision>3</cp:revision>
  <dcterms:created xsi:type="dcterms:W3CDTF">2013-01-27T09:14:16Z</dcterms:created>
  <dcterms:modified xsi:type="dcterms:W3CDTF">2026-09-03T06:32:15Z</dcterms:modified>
  <cp:category/>
</cp:coreProperties>
</file>