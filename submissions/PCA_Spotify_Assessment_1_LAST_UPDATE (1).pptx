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960120"/>
            <a:ext cx="7315200" cy="731520"/>
          </a:xfrm>
          <a:prstGeom prst="rect">
            <a:avLst/>
          </a:prstGeom>
          <a:noFill/>
        </p:spPr>
        <p:txBody>
          <a:bodyPr wrap="square">
            <a:spAutoFit/>
          </a:bodyPr>
          <a:lstStyle/>
          <a:p>
            <a:r>
              <a:rPr sz="4000" b="1" dirty="0">
                <a:solidFill>
                  <a:srgbClr val="182F4C"/>
                </a:solidFill>
                <a:latin typeface="Aptos"/>
              </a:rPr>
              <a:t>PCA-Based Feature Reduction</a:t>
            </a:r>
          </a:p>
        </p:txBody>
      </p:sp>
      <p:sp>
        <p:nvSpPr>
          <p:cNvPr id="4" name="TextBox 3"/>
          <p:cNvSpPr txBox="1"/>
          <p:nvPr/>
        </p:nvSpPr>
        <p:spPr>
          <a:xfrm>
            <a:off x="804672" y="1783080"/>
            <a:ext cx="6675120" cy="640080"/>
          </a:xfrm>
          <a:prstGeom prst="rect">
            <a:avLst/>
          </a:prstGeom>
          <a:noFill/>
        </p:spPr>
        <p:txBody>
          <a:bodyPr wrap="square">
            <a:spAutoFit/>
          </a:bodyPr>
          <a:lstStyle/>
          <a:p>
            <a:r>
              <a:rPr sz="2000" b="0">
                <a:solidFill>
                  <a:srgbClr val="566373"/>
                </a:solidFill>
                <a:latin typeface="Aptos"/>
              </a:rPr>
              <a:t>Reducing dimensionality and visualizing data clusters</a:t>
            </a:r>
          </a:p>
        </p:txBody>
      </p:sp>
      <p:sp>
        <p:nvSpPr>
          <p:cNvPr id="5" name="TextBox 4"/>
          <p:cNvSpPr txBox="1"/>
          <p:nvPr/>
        </p:nvSpPr>
        <p:spPr>
          <a:xfrm>
            <a:off x="804672" y="2743200"/>
            <a:ext cx="5852160" cy="914400"/>
          </a:xfrm>
          <a:prstGeom prst="rect">
            <a:avLst/>
          </a:prstGeom>
          <a:noFill/>
        </p:spPr>
        <p:txBody>
          <a:bodyPr wrap="square">
            <a:spAutoFit/>
          </a:bodyPr>
          <a:lstStyle/>
          <a:p>
            <a:r>
              <a:rPr sz="1800" b="0">
                <a:solidFill>
                  <a:srgbClr val="243040"/>
                </a:solidFill>
                <a:latin typeface="Aptos"/>
              </a:rPr>
              <a:t>Our presentation first explains the concept,
then shows how we will apply it to Spotify music.</a:t>
            </a:r>
          </a:p>
        </p:txBody>
      </p:sp>
      <p:sp>
        <p:nvSpPr>
          <p:cNvPr id="6" name="Rounded Rectangle 5"/>
          <p:cNvSpPr/>
          <p:nvPr/>
        </p:nvSpPr>
        <p:spPr>
          <a:xfrm>
            <a:off x="7818120" y="1325880"/>
            <a:ext cx="1600200" cy="621792"/>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82F4C"/>
                </a:solidFill>
                <a:latin typeface="Aptos"/>
              </a:rPr>
              <a:t>Many Features</a:t>
            </a:r>
          </a:p>
        </p:txBody>
      </p:sp>
      <p:sp>
        <p:nvSpPr>
          <p:cNvPr id="7" name="Rounded Rectangle 6"/>
          <p:cNvSpPr/>
          <p:nvPr/>
        </p:nvSpPr>
        <p:spPr>
          <a:xfrm>
            <a:off x="9738360" y="1325880"/>
            <a:ext cx="1417320" cy="621792"/>
          </a:xfrm>
          <a:prstGeom prst="roundRect">
            <a:avLst/>
          </a:prstGeom>
          <a:solidFill>
            <a:srgbClr val="E8F6ED"/>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82F4C"/>
                </a:solidFill>
                <a:latin typeface="Aptos"/>
              </a:rPr>
              <a:t>PCA</a:t>
            </a:r>
          </a:p>
        </p:txBody>
      </p:sp>
      <p:cxnSp>
        <p:nvCxnSpPr>
          <p:cNvPr id="8" name="Connector 7"/>
          <p:cNvCxnSpPr/>
          <p:nvPr/>
        </p:nvCxnSpPr>
        <p:spPr>
          <a:xfrm>
            <a:off x="9418320" y="1636776"/>
            <a:ext cx="320040"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549640" y="2880360"/>
            <a:ext cx="1965960" cy="658368"/>
          </a:xfrm>
          <a:prstGeom prst="roundRect">
            <a:avLst/>
          </a:prstGeom>
          <a:solidFill>
            <a:srgbClr val="FFFFFF"/>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82F4C"/>
                </a:solidFill>
                <a:latin typeface="Aptos"/>
              </a:rPr>
              <a:t>PC1 + PC2</a:t>
            </a:r>
          </a:p>
        </p:txBody>
      </p:sp>
      <p:cxnSp>
        <p:nvCxnSpPr>
          <p:cNvPr id="10" name="Connector 9"/>
          <p:cNvCxnSpPr/>
          <p:nvPr/>
        </p:nvCxnSpPr>
        <p:spPr>
          <a:xfrm flipH="1">
            <a:off x="9601200" y="1965960"/>
            <a:ext cx="777240" cy="91440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7772400" y="5340392"/>
            <a:ext cx="146304" cy="146304"/>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092440" y="5066072"/>
            <a:ext cx="146304" cy="146304"/>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66760" y="5477552"/>
            <a:ext cx="146304" cy="146304"/>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281160" y="3931920"/>
            <a:ext cx="146304" cy="146304"/>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601200" y="4160520"/>
            <a:ext cx="146304" cy="146304"/>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921240" y="3794760"/>
            <a:ext cx="146304" cy="146304"/>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241280" y="4114800"/>
            <a:ext cx="146304" cy="146304"/>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6473952"/>
            <a:ext cx="10972800" cy="182880"/>
          </a:xfrm>
          <a:prstGeom prst="rect">
            <a:avLst/>
          </a:prstGeom>
          <a:noFill/>
        </p:spPr>
        <p:txBody>
          <a:bodyPr wrap="square">
            <a:spAutoFit/>
          </a:bodyPr>
          <a:lstStyle/>
          <a:p>
            <a:pPr algn="r"/>
            <a:r>
              <a:rPr sz="900" b="0">
                <a:solidFill>
                  <a:srgbClr val="8997A7"/>
                </a:solidFill>
                <a:latin typeface="Aptos"/>
              </a:rPr>
              <a:t>PBL Assessment 1  •  1/6</a:t>
            </a:r>
          </a:p>
        </p:txBody>
      </p:sp>
      <p:sp>
        <p:nvSpPr>
          <p:cNvPr id="21" name="TextBox 20">
            <a:extLst>
              <a:ext uri="{FF2B5EF4-FFF2-40B4-BE49-F238E27FC236}">
                <a16:creationId xmlns:a16="http://schemas.microsoft.com/office/drawing/2014/main" id="{8B9015D2-DE55-AD9B-AE15-87A17F9777DA}"/>
              </a:ext>
            </a:extLst>
          </p:cNvPr>
          <p:cNvSpPr txBox="1"/>
          <p:nvPr/>
        </p:nvSpPr>
        <p:spPr>
          <a:xfrm>
            <a:off x="1005840" y="4886535"/>
            <a:ext cx="6949440" cy="359073"/>
          </a:xfrm>
          <a:prstGeom prst="rect">
            <a:avLst/>
          </a:prstGeom>
          <a:noFill/>
          <a:ln>
            <a:noFill/>
          </a:ln>
        </p:spPr>
        <p:txBody>
          <a:bodyPr wrap="square" lIns="88900" tIns="63500" rIns="88900" bIns="63500" anchor="ctr">
            <a:spAutoFit/>
          </a:bodyPr>
          <a:lstStyle/>
          <a:p>
            <a:pPr algn="ctr">
              <a:defRPr sz="1500" b="1">
                <a:solidFill>
                  <a:srgbClr val="B9891C"/>
                </a:solidFill>
                <a:latin typeface="Times New Roman"/>
              </a:defRPr>
            </a:pPr>
            <a:r>
              <a:rPr lang="en-US" dirty="0"/>
              <a:t>Pattern Recognition </a:t>
            </a:r>
            <a:r>
              <a:rPr dirty="0"/>
              <a:t>(N-PECCM70</a:t>
            </a:r>
            <a:r>
              <a:rPr lang="en-US" dirty="0"/>
              <a:t>3</a:t>
            </a:r>
            <a:r>
              <a:rPr dirty="0"/>
              <a:t>T)</a:t>
            </a:r>
          </a:p>
        </p:txBody>
      </p:sp>
      <p:sp>
        <p:nvSpPr>
          <p:cNvPr id="23" name="TextBox 22">
            <a:extLst>
              <a:ext uri="{FF2B5EF4-FFF2-40B4-BE49-F238E27FC236}">
                <a16:creationId xmlns:a16="http://schemas.microsoft.com/office/drawing/2014/main" id="{E7890C5E-E1E3-9475-775C-4E15EE76A2BA}"/>
              </a:ext>
            </a:extLst>
          </p:cNvPr>
          <p:cNvSpPr txBox="1"/>
          <p:nvPr/>
        </p:nvSpPr>
        <p:spPr>
          <a:xfrm>
            <a:off x="1051560" y="5563748"/>
            <a:ext cx="3200400" cy="559127"/>
          </a:xfrm>
          <a:prstGeom prst="rect">
            <a:avLst/>
          </a:prstGeom>
          <a:solidFill>
            <a:srgbClr val="F4F7FB"/>
          </a:solidFill>
          <a:ln>
            <a:solidFill>
              <a:srgbClr val="DAE1EB"/>
            </a:solidFill>
          </a:ln>
        </p:spPr>
        <p:txBody>
          <a:bodyPr wrap="square" lIns="88900" tIns="63500" rIns="88900" bIns="63500" anchor="ctr">
            <a:spAutoFit/>
          </a:bodyPr>
          <a:lstStyle/>
          <a:p>
            <a:pPr algn="ctr">
              <a:defRPr sz="1400" b="1">
                <a:solidFill>
                  <a:srgbClr val="282828"/>
                </a:solidFill>
                <a:latin typeface="Times New Roman"/>
              </a:defRPr>
            </a:pPr>
            <a:r>
              <a:rPr dirty="0"/>
              <a:t>Presented By:</a:t>
            </a:r>
            <a:br>
              <a:rPr dirty="0"/>
            </a:br>
            <a:r>
              <a:rPr lang="en-US" dirty="0"/>
              <a:t>Jarrar Khan(CM23018)</a:t>
            </a:r>
            <a:endParaRPr dirty="0"/>
          </a:p>
        </p:txBody>
      </p:sp>
      <p:sp>
        <p:nvSpPr>
          <p:cNvPr id="25" name="TextBox 24">
            <a:extLst>
              <a:ext uri="{FF2B5EF4-FFF2-40B4-BE49-F238E27FC236}">
                <a16:creationId xmlns:a16="http://schemas.microsoft.com/office/drawing/2014/main" id="{3CC7C1D0-66E9-5A9A-5B4E-B9AAB2874753}"/>
              </a:ext>
            </a:extLst>
          </p:cNvPr>
          <p:cNvSpPr txBox="1"/>
          <p:nvPr/>
        </p:nvSpPr>
        <p:spPr>
          <a:xfrm>
            <a:off x="4572000" y="5563748"/>
            <a:ext cx="3200400" cy="559127"/>
          </a:xfrm>
          <a:prstGeom prst="rect">
            <a:avLst/>
          </a:prstGeom>
          <a:solidFill>
            <a:srgbClr val="F4F7FB"/>
          </a:solidFill>
          <a:ln>
            <a:solidFill>
              <a:srgbClr val="DAE1EB"/>
            </a:solidFill>
          </a:ln>
        </p:spPr>
        <p:txBody>
          <a:bodyPr wrap="square" lIns="88900" tIns="63500" rIns="88900" bIns="63500" anchor="ctr">
            <a:spAutoFit/>
          </a:bodyPr>
          <a:lstStyle/>
          <a:p>
            <a:pPr algn="ctr">
              <a:defRPr sz="1400" b="1">
                <a:solidFill>
                  <a:srgbClr val="282828"/>
                </a:solidFill>
                <a:latin typeface="Times New Roman"/>
              </a:defRPr>
            </a:pPr>
            <a:r>
              <a:rPr dirty="0"/>
              <a:t>Under the Guidance of</a:t>
            </a:r>
            <a:br>
              <a:rPr dirty="0"/>
            </a:br>
            <a:r>
              <a:rPr dirty="0"/>
              <a:t>Mrs. </a:t>
            </a:r>
            <a:r>
              <a:rPr lang="en-ID" sz="1400" dirty="0"/>
              <a:t>Mayuri </a:t>
            </a:r>
            <a:r>
              <a:rPr lang="en-ID" sz="1400" dirty="0" err="1"/>
              <a:t>Getme</a:t>
            </a:r>
            <a:endParaRPr dirty="0"/>
          </a:p>
        </p:txBody>
      </p:sp>
      <p:sp>
        <p:nvSpPr>
          <p:cNvPr id="27" name="TextBox 26">
            <a:extLst>
              <a:ext uri="{FF2B5EF4-FFF2-40B4-BE49-F238E27FC236}">
                <a16:creationId xmlns:a16="http://schemas.microsoft.com/office/drawing/2014/main" id="{DB913FC8-5735-B957-7B32-72BB0B2541BC}"/>
              </a:ext>
            </a:extLst>
          </p:cNvPr>
          <p:cNvSpPr txBox="1"/>
          <p:nvPr/>
        </p:nvSpPr>
        <p:spPr>
          <a:xfrm>
            <a:off x="2331720" y="243783"/>
            <a:ext cx="7498079" cy="466794"/>
          </a:xfrm>
          <a:prstGeom prst="rect">
            <a:avLst/>
          </a:prstGeom>
          <a:noFill/>
          <a:ln>
            <a:noFill/>
          </a:ln>
        </p:spPr>
        <p:txBody>
          <a:bodyPr wrap="square" lIns="88900" tIns="63500" rIns="88900" bIns="63500" anchor="ctr">
            <a:spAutoFit/>
          </a:bodyPr>
          <a:lstStyle/>
          <a:p>
            <a:pPr algn="ctr">
              <a:defRPr sz="2200" b="1">
                <a:solidFill>
                  <a:srgbClr val="193056"/>
                </a:solidFill>
                <a:latin typeface="Times New Roman"/>
              </a:defRPr>
            </a:pPr>
            <a:r>
              <a:rPr dirty="0"/>
              <a:t>TAE-I</a:t>
            </a:r>
            <a:r>
              <a:rPr lang="en-US" dirty="0"/>
              <a:t>  </a:t>
            </a:r>
            <a:r>
              <a:rPr dirty="0"/>
              <a:t>SEMINAR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r>
              <a:rPr sz="2900" b="1">
                <a:solidFill>
                  <a:srgbClr val="182F4C"/>
                </a:solidFill>
                <a:latin typeface="Aptos"/>
              </a:rPr>
              <a:t>What is Dimensionality Reduction?</a:t>
            </a:r>
          </a:p>
        </p:txBody>
      </p:sp>
      <p:sp>
        <p:nvSpPr>
          <p:cNvPr id="3" name="TextBox 2"/>
          <p:cNvSpPr txBox="1"/>
          <p:nvPr/>
        </p:nvSpPr>
        <p:spPr>
          <a:xfrm>
            <a:off x="621792" y="886968"/>
            <a:ext cx="10789920" cy="365760"/>
          </a:xfrm>
          <a:prstGeom prst="rect">
            <a:avLst/>
          </a:prstGeom>
          <a:noFill/>
        </p:spPr>
        <p:txBody>
          <a:bodyPr wrap="square">
            <a:spAutoFit/>
          </a:bodyPr>
          <a:lstStyle/>
          <a:p>
            <a:r>
              <a:rPr sz="1250" b="0">
                <a:solidFill>
                  <a:srgbClr val="566373"/>
                </a:solidFill>
                <a:latin typeface="Aptos"/>
              </a:rPr>
              <a:t>Reducing the number of features while keeping the important information.</a:t>
            </a:r>
          </a:p>
        </p:txBody>
      </p:sp>
      <p:sp>
        <p:nvSpPr>
          <p:cNvPr id="4" name="Rounded Rectangle 3"/>
          <p:cNvSpPr/>
          <p:nvPr/>
        </p:nvSpPr>
        <p:spPr>
          <a:xfrm>
            <a:off x="594360" y="1325880"/>
            <a:ext cx="3703320" cy="4526280"/>
          </a:xfrm>
          <a:prstGeom prst="roundRect">
            <a:avLst/>
          </a:prstGeom>
          <a:solidFill>
            <a:srgbClr val="FFFFFF"/>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325880"/>
            <a:ext cx="50292" cy="452628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453895"/>
            <a:ext cx="3337560" cy="365760"/>
          </a:xfrm>
          <a:prstGeom prst="rect">
            <a:avLst/>
          </a:prstGeom>
          <a:noFill/>
        </p:spPr>
        <p:txBody>
          <a:bodyPr wrap="square">
            <a:spAutoFit/>
          </a:bodyPr>
          <a:lstStyle/>
          <a:p>
            <a:r>
              <a:rPr sz="1550" b="1">
                <a:solidFill>
                  <a:srgbClr val="182F4C"/>
                </a:solidFill>
                <a:latin typeface="Aptos"/>
              </a:rPr>
              <a:t>Why is it needed?</a:t>
            </a:r>
          </a:p>
        </p:txBody>
      </p:sp>
      <p:sp>
        <p:nvSpPr>
          <p:cNvPr id="7" name="TextBox 6"/>
          <p:cNvSpPr txBox="1"/>
          <p:nvPr/>
        </p:nvSpPr>
        <p:spPr>
          <a:xfrm>
            <a:off x="795528" y="1892807"/>
            <a:ext cx="3337560" cy="3840480"/>
          </a:xfrm>
          <a:prstGeom prst="rect">
            <a:avLst/>
          </a:prstGeom>
          <a:noFill/>
        </p:spPr>
        <p:txBody>
          <a:bodyPr wrap="square">
            <a:spAutoFit/>
          </a:bodyPr>
          <a:lstStyle/>
          <a:p>
            <a:r>
              <a:rPr sz="1150" b="0">
                <a:solidFill>
                  <a:srgbClr val="566373"/>
                </a:solidFill>
                <a:latin typeface="Aptos"/>
              </a:rPr>
              <a:t>• Visualization becomes difficult beyond 2–3 dimensions.
• Redundant or correlated features increase complexity.
• More features can make analysis and computation harder.
• Irrelevant features may hide useful patterns.
Goal: simplify the data without losing its most important structure.</a:t>
            </a:r>
          </a:p>
        </p:txBody>
      </p:sp>
      <p:sp>
        <p:nvSpPr>
          <p:cNvPr id="8" name="Rounded Rectangle 7"/>
          <p:cNvSpPr/>
          <p:nvPr/>
        </p:nvSpPr>
        <p:spPr>
          <a:xfrm>
            <a:off x="4526280" y="1325880"/>
            <a:ext cx="3154680" cy="1965960"/>
          </a:xfrm>
          <a:prstGeom prst="roundRect">
            <a:avLst/>
          </a:prstGeom>
          <a:solidFill>
            <a:srgbClr val="EBF2F9"/>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26280" y="1325880"/>
            <a:ext cx="50292" cy="196596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27448" y="1453895"/>
            <a:ext cx="2788920" cy="365760"/>
          </a:xfrm>
          <a:prstGeom prst="rect">
            <a:avLst/>
          </a:prstGeom>
          <a:noFill/>
        </p:spPr>
        <p:txBody>
          <a:bodyPr wrap="square">
            <a:spAutoFit/>
          </a:bodyPr>
          <a:lstStyle/>
          <a:p>
            <a:r>
              <a:rPr sz="1550" b="1">
                <a:solidFill>
                  <a:srgbClr val="182F4C"/>
                </a:solidFill>
                <a:latin typeface="Aptos"/>
              </a:rPr>
              <a:t>Simple example</a:t>
            </a:r>
          </a:p>
        </p:txBody>
      </p:sp>
      <p:sp>
        <p:nvSpPr>
          <p:cNvPr id="11" name="TextBox 10"/>
          <p:cNvSpPr txBox="1"/>
          <p:nvPr/>
        </p:nvSpPr>
        <p:spPr>
          <a:xfrm>
            <a:off x="4727448" y="1892807"/>
            <a:ext cx="2788920" cy="1280160"/>
          </a:xfrm>
          <a:prstGeom prst="rect">
            <a:avLst/>
          </a:prstGeom>
          <a:noFill/>
        </p:spPr>
        <p:txBody>
          <a:bodyPr wrap="square">
            <a:spAutoFit/>
          </a:bodyPr>
          <a:lstStyle/>
          <a:p>
            <a:r>
              <a:rPr sz="1150" b="0">
                <a:solidFill>
                  <a:srgbClr val="566373"/>
                </a:solidFill>
                <a:latin typeface="Aptos"/>
              </a:rPr>
              <a:t>A dataset has 10 features.
Directly visualizing all 10 dimensions is difficult.
Reduction can represent it using 2–3 dimensions.</a:t>
            </a:r>
          </a:p>
        </p:txBody>
      </p:sp>
      <p:sp>
        <p:nvSpPr>
          <p:cNvPr id="12" name="TextBox 11"/>
          <p:cNvSpPr txBox="1"/>
          <p:nvPr/>
        </p:nvSpPr>
        <p:spPr>
          <a:xfrm>
            <a:off x="4800600" y="3566160"/>
            <a:ext cx="2743200" cy="320040"/>
          </a:xfrm>
          <a:prstGeom prst="rect">
            <a:avLst/>
          </a:prstGeom>
          <a:noFill/>
        </p:spPr>
        <p:txBody>
          <a:bodyPr wrap="square">
            <a:spAutoFit/>
          </a:bodyPr>
          <a:lstStyle/>
          <a:p>
            <a:pPr algn="ctr"/>
            <a:r>
              <a:rPr sz="1400" b="1">
                <a:solidFill>
                  <a:srgbClr val="182F4C"/>
                </a:solidFill>
                <a:latin typeface="Aptos"/>
              </a:rPr>
              <a:t>10 dimensions</a:t>
            </a:r>
          </a:p>
        </p:txBody>
      </p:sp>
      <p:sp>
        <p:nvSpPr>
          <p:cNvPr id="13" name="Rounded Rectangle 12"/>
          <p:cNvSpPr/>
          <p:nvPr/>
        </p:nvSpPr>
        <p:spPr>
          <a:xfrm>
            <a:off x="4709160" y="3977639"/>
            <a:ext cx="566928" cy="384048"/>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F1</a:t>
            </a:r>
          </a:p>
        </p:txBody>
      </p:sp>
      <p:sp>
        <p:nvSpPr>
          <p:cNvPr id="14" name="Rounded Rectangle 13"/>
          <p:cNvSpPr/>
          <p:nvPr/>
        </p:nvSpPr>
        <p:spPr>
          <a:xfrm>
            <a:off x="5422392" y="3977639"/>
            <a:ext cx="566928" cy="384048"/>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F2</a:t>
            </a:r>
          </a:p>
        </p:txBody>
      </p:sp>
      <p:sp>
        <p:nvSpPr>
          <p:cNvPr id="15" name="Rounded Rectangle 14"/>
          <p:cNvSpPr/>
          <p:nvPr/>
        </p:nvSpPr>
        <p:spPr>
          <a:xfrm>
            <a:off x="6135624" y="3977639"/>
            <a:ext cx="566928" cy="384048"/>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F3</a:t>
            </a:r>
          </a:p>
        </p:txBody>
      </p:sp>
      <p:sp>
        <p:nvSpPr>
          <p:cNvPr id="16" name="Rounded Rectangle 15"/>
          <p:cNvSpPr/>
          <p:nvPr/>
        </p:nvSpPr>
        <p:spPr>
          <a:xfrm>
            <a:off x="6848856" y="3977639"/>
            <a:ext cx="566928" cy="384048"/>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F4</a:t>
            </a:r>
          </a:p>
        </p:txBody>
      </p:sp>
      <p:sp>
        <p:nvSpPr>
          <p:cNvPr id="17" name="Rounded Rectangle 16"/>
          <p:cNvSpPr/>
          <p:nvPr/>
        </p:nvSpPr>
        <p:spPr>
          <a:xfrm>
            <a:off x="4709160" y="4544568"/>
            <a:ext cx="566928" cy="384048"/>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F5</a:t>
            </a:r>
          </a:p>
        </p:txBody>
      </p:sp>
      <p:sp>
        <p:nvSpPr>
          <p:cNvPr id="18" name="Rounded Rectangle 17"/>
          <p:cNvSpPr/>
          <p:nvPr/>
        </p:nvSpPr>
        <p:spPr>
          <a:xfrm>
            <a:off x="5422392" y="4544568"/>
            <a:ext cx="566928" cy="384048"/>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F6</a:t>
            </a:r>
          </a:p>
        </p:txBody>
      </p:sp>
      <p:sp>
        <p:nvSpPr>
          <p:cNvPr id="19" name="Rounded Rectangle 18"/>
          <p:cNvSpPr/>
          <p:nvPr/>
        </p:nvSpPr>
        <p:spPr>
          <a:xfrm>
            <a:off x="6135624" y="4544568"/>
            <a:ext cx="566928" cy="384048"/>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F7</a:t>
            </a:r>
          </a:p>
        </p:txBody>
      </p:sp>
      <p:sp>
        <p:nvSpPr>
          <p:cNvPr id="20" name="Rounded Rectangle 19"/>
          <p:cNvSpPr/>
          <p:nvPr/>
        </p:nvSpPr>
        <p:spPr>
          <a:xfrm>
            <a:off x="6848856" y="4544568"/>
            <a:ext cx="566928" cy="384048"/>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F8</a:t>
            </a:r>
          </a:p>
        </p:txBody>
      </p:sp>
      <p:cxnSp>
        <p:nvCxnSpPr>
          <p:cNvPr id="21" name="Connector 20"/>
          <p:cNvCxnSpPr/>
          <p:nvPr/>
        </p:nvCxnSpPr>
        <p:spPr>
          <a:xfrm>
            <a:off x="7726679" y="4434840"/>
            <a:ext cx="548641"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75320" y="4069080"/>
            <a:ext cx="1325880" cy="640080"/>
          </a:xfrm>
          <a:prstGeom prst="roundRect">
            <a:avLst/>
          </a:prstGeom>
          <a:solidFill>
            <a:srgbClr val="E8F6ED"/>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82F4C"/>
                </a:solidFill>
                <a:latin typeface="Aptos"/>
              </a:rPr>
              <a:t>2–3D</a:t>
            </a:r>
          </a:p>
        </p:txBody>
      </p:sp>
      <p:sp>
        <p:nvSpPr>
          <p:cNvPr id="23" name="Rounded Rectangle 22"/>
          <p:cNvSpPr/>
          <p:nvPr/>
        </p:nvSpPr>
        <p:spPr>
          <a:xfrm>
            <a:off x="9144000" y="1325880"/>
            <a:ext cx="2377440" cy="2788920"/>
          </a:xfrm>
          <a:prstGeom prst="roundRect">
            <a:avLst/>
          </a:prstGeom>
          <a:solidFill>
            <a:srgbClr val="FFFFFF"/>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144000" y="1325880"/>
            <a:ext cx="50292" cy="278892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45168" y="1453895"/>
            <a:ext cx="2011680" cy="365760"/>
          </a:xfrm>
          <a:prstGeom prst="rect">
            <a:avLst/>
          </a:prstGeom>
          <a:noFill/>
        </p:spPr>
        <p:txBody>
          <a:bodyPr wrap="square">
            <a:spAutoFit/>
          </a:bodyPr>
          <a:lstStyle/>
          <a:p>
            <a:r>
              <a:rPr sz="1550" b="1">
                <a:solidFill>
                  <a:srgbClr val="182F4C"/>
                </a:solidFill>
                <a:latin typeface="Aptos"/>
              </a:rPr>
              <a:t>Two approaches</a:t>
            </a:r>
          </a:p>
        </p:txBody>
      </p:sp>
      <p:sp>
        <p:nvSpPr>
          <p:cNvPr id="26" name="TextBox 25"/>
          <p:cNvSpPr txBox="1"/>
          <p:nvPr/>
        </p:nvSpPr>
        <p:spPr>
          <a:xfrm>
            <a:off x="9345168" y="1892807"/>
            <a:ext cx="2011680" cy="2103120"/>
          </a:xfrm>
          <a:prstGeom prst="rect">
            <a:avLst/>
          </a:prstGeom>
          <a:noFill/>
        </p:spPr>
        <p:txBody>
          <a:bodyPr wrap="square">
            <a:spAutoFit/>
          </a:bodyPr>
          <a:lstStyle/>
          <a:p>
            <a:r>
              <a:rPr sz="1150" b="0">
                <a:solidFill>
                  <a:srgbClr val="566373"/>
                </a:solidFill>
                <a:latin typeface="Aptos"/>
              </a:rPr>
              <a:t>Feature Selection
Keep some original features.
PCA / Transformation
Create new features (principal components) from the originals.</a:t>
            </a:r>
          </a:p>
        </p:txBody>
      </p:sp>
      <p:sp>
        <p:nvSpPr>
          <p:cNvPr id="27" name="Rounded Rectangle 26"/>
          <p:cNvSpPr/>
          <p:nvPr/>
        </p:nvSpPr>
        <p:spPr>
          <a:xfrm>
            <a:off x="8183879" y="4892040"/>
            <a:ext cx="3337560" cy="868680"/>
          </a:xfrm>
          <a:prstGeom prst="roundRect">
            <a:avLst/>
          </a:prstGeom>
          <a:solidFill>
            <a:srgbClr val="E8F6ED"/>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83879" y="4892040"/>
            <a:ext cx="50292" cy="86868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85048" y="5020055"/>
            <a:ext cx="2971800" cy="365760"/>
          </a:xfrm>
          <a:prstGeom prst="rect">
            <a:avLst/>
          </a:prstGeom>
          <a:noFill/>
        </p:spPr>
        <p:txBody>
          <a:bodyPr wrap="square">
            <a:spAutoFit/>
          </a:bodyPr>
          <a:lstStyle/>
          <a:p>
            <a:r>
              <a:rPr sz="1550" b="1">
                <a:solidFill>
                  <a:srgbClr val="182F4C"/>
                </a:solidFill>
                <a:latin typeface="Aptos"/>
              </a:rPr>
              <a:t>Key idea</a:t>
            </a:r>
          </a:p>
        </p:txBody>
      </p:sp>
      <p:sp>
        <p:nvSpPr>
          <p:cNvPr id="30" name="TextBox 29"/>
          <p:cNvSpPr txBox="1"/>
          <p:nvPr/>
        </p:nvSpPr>
        <p:spPr>
          <a:xfrm>
            <a:off x="8385048" y="5458968"/>
            <a:ext cx="2971800" cy="182879"/>
          </a:xfrm>
          <a:prstGeom prst="rect">
            <a:avLst/>
          </a:prstGeom>
          <a:noFill/>
        </p:spPr>
        <p:txBody>
          <a:bodyPr wrap="square">
            <a:spAutoFit/>
          </a:bodyPr>
          <a:lstStyle/>
          <a:p>
            <a:r>
              <a:rPr sz="1150" b="0">
                <a:solidFill>
                  <a:srgbClr val="566373"/>
                </a:solidFill>
                <a:latin typeface="Aptos"/>
              </a:rPr>
              <a:t>Less dimensions → simpler analysis → easier visualization</a:t>
            </a:r>
          </a:p>
        </p:txBody>
      </p:sp>
      <p:sp>
        <p:nvSpPr>
          <p:cNvPr id="31" name="TextBox 30"/>
          <p:cNvSpPr txBox="1"/>
          <p:nvPr/>
        </p:nvSpPr>
        <p:spPr>
          <a:xfrm>
            <a:off x="594360" y="6473952"/>
            <a:ext cx="10972800" cy="182880"/>
          </a:xfrm>
          <a:prstGeom prst="rect">
            <a:avLst/>
          </a:prstGeom>
          <a:noFill/>
        </p:spPr>
        <p:txBody>
          <a:bodyPr wrap="square">
            <a:spAutoFit/>
          </a:bodyPr>
          <a:lstStyle/>
          <a:p>
            <a:pPr algn="r"/>
            <a:r>
              <a:rPr sz="900" b="0">
                <a:solidFill>
                  <a:srgbClr val="8997A7"/>
                </a:solidFill>
                <a:latin typeface="Aptos"/>
              </a:rPr>
              <a:t>PBL Assessment 1  •  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r>
              <a:rPr sz="2900" b="1">
                <a:solidFill>
                  <a:srgbClr val="182F4C"/>
                </a:solidFill>
                <a:latin typeface="Aptos"/>
              </a:rPr>
              <a:t>What is PCA?</a:t>
            </a:r>
          </a:p>
        </p:txBody>
      </p:sp>
      <p:sp>
        <p:nvSpPr>
          <p:cNvPr id="3" name="TextBox 2"/>
          <p:cNvSpPr txBox="1"/>
          <p:nvPr/>
        </p:nvSpPr>
        <p:spPr>
          <a:xfrm>
            <a:off x="621792" y="886968"/>
            <a:ext cx="10789920" cy="365760"/>
          </a:xfrm>
          <a:prstGeom prst="rect">
            <a:avLst/>
          </a:prstGeom>
          <a:noFill/>
        </p:spPr>
        <p:txBody>
          <a:bodyPr wrap="square">
            <a:spAutoFit/>
          </a:bodyPr>
          <a:lstStyle/>
          <a:p>
            <a:r>
              <a:rPr sz="1250" b="0">
                <a:solidFill>
                  <a:srgbClr val="566373"/>
                </a:solidFill>
                <a:latin typeface="Aptos"/>
              </a:rPr>
              <a:t>Principal Component Analysis transforms original features into new Principal Components.</a:t>
            </a:r>
          </a:p>
        </p:txBody>
      </p:sp>
      <p:sp>
        <p:nvSpPr>
          <p:cNvPr id="4" name="Rounded Rectangle 3"/>
          <p:cNvSpPr/>
          <p:nvPr/>
        </p:nvSpPr>
        <p:spPr>
          <a:xfrm>
            <a:off x="640080" y="1371600"/>
            <a:ext cx="3977639" cy="4526280"/>
          </a:xfrm>
          <a:prstGeom prst="roundRect">
            <a:avLst/>
          </a:prstGeom>
          <a:solidFill>
            <a:srgbClr val="FFFFFF"/>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371600"/>
            <a:ext cx="50292" cy="452628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499616"/>
            <a:ext cx="3611879" cy="365760"/>
          </a:xfrm>
          <a:prstGeom prst="rect">
            <a:avLst/>
          </a:prstGeom>
          <a:noFill/>
        </p:spPr>
        <p:txBody>
          <a:bodyPr wrap="square">
            <a:spAutoFit/>
          </a:bodyPr>
          <a:lstStyle/>
          <a:p>
            <a:r>
              <a:rPr sz="1550" b="1">
                <a:solidFill>
                  <a:srgbClr val="182F4C"/>
                </a:solidFill>
                <a:latin typeface="Aptos"/>
              </a:rPr>
              <a:t>PCA in simple words</a:t>
            </a:r>
          </a:p>
        </p:txBody>
      </p:sp>
      <p:sp>
        <p:nvSpPr>
          <p:cNvPr id="7" name="TextBox 6"/>
          <p:cNvSpPr txBox="1"/>
          <p:nvPr/>
        </p:nvSpPr>
        <p:spPr>
          <a:xfrm>
            <a:off x="841247" y="1938528"/>
            <a:ext cx="3611879" cy="3840480"/>
          </a:xfrm>
          <a:prstGeom prst="rect">
            <a:avLst/>
          </a:prstGeom>
          <a:noFill/>
        </p:spPr>
        <p:txBody>
          <a:bodyPr wrap="square">
            <a:spAutoFit/>
          </a:bodyPr>
          <a:lstStyle/>
          <a:p>
            <a:r>
              <a:rPr sz="1150" b="0">
                <a:solidFill>
                  <a:srgbClr val="566373"/>
                </a:solidFill>
                <a:latin typeface="Aptos"/>
              </a:rPr>
              <a:t>PCA looks for directions in which the data varies the most.
It creates new variables called Principal Components.
PC1 captures the most variance.
PC2 captures the next most variance.
We can keep the most useful components and reduce the remaining dimensions.</a:t>
            </a:r>
          </a:p>
        </p:txBody>
      </p:sp>
      <p:sp>
        <p:nvSpPr>
          <p:cNvPr id="8" name="TextBox 7"/>
          <p:cNvSpPr txBox="1"/>
          <p:nvPr/>
        </p:nvSpPr>
        <p:spPr>
          <a:xfrm>
            <a:off x="5074920" y="1417320"/>
            <a:ext cx="2286000" cy="320040"/>
          </a:xfrm>
          <a:prstGeom prst="rect">
            <a:avLst/>
          </a:prstGeom>
          <a:noFill/>
        </p:spPr>
        <p:txBody>
          <a:bodyPr wrap="square">
            <a:spAutoFit/>
          </a:bodyPr>
          <a:lstStyle/>
          <a:p>
            <a:pPr algn="ctr"/>
            <a:r>
              <a:rPr sz="1400" b="1">
                <a:solidFill>
                  <a:srgbClr val="566373"/>
                </a:solidFill>
                <a:latin typeface="Aptos"/>
              </a:rPr>
              <a:t>Original features</a:t>
            </a:r>
          </a:p>
        </p:txBody>
      </p:sp>
      <p:sp>
        <p:nvSpPr>
          <p:cNvPr id="9" name="Rounded Rectangle 8"/>
          <p:cNvSpPr/>
          <p:nvPr/>
        </p:nvSpPr>
        <p:spPr>
          <a:xfrm>
            <a:off x="5303520" y="1874519"/>
            <a:ext cx="1051560" cy="457200"/>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Feature 1</a:t>
            </a:r>
          </a:p>
        </p:txBody>
      </p:sp>
      <p:sp>
        <p:nvSpPr>
          <p:cNvPr id="10" name="Rounded Rectangle 9"/>
          <p:cNvSpPr/>
          <p:nvPr/>
        </p:nvSpPr>
        <p:spPr>
          <a:xfrm>
            <a:off x="6537960" y="1874519"/>
            <a:ext cx="1051560" cy="457200"/>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Feature 2</a:t>
            </a:r>
          </a:p>
        </p:txBody>
      </p:sp>
      <p:sp>
        <p:nvSpPr>
          <p:cNvPr id="11" name="Rounded Rectangle 10"/>
          <p:cNvSpPr/>
          <p:nvPr/>
        </p:nvSpPr>
        <p:spPr>
          <a:xfrm>
            <a:off x="5303520" y="2651760"/>
            <a:ext cx="1051560" cy="457200"/>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Feature 3</a:t>
            </a:r>
          </a:p>
        </p:txBody>
      </p:sp>
      <p:sp>
        <p:nvSpPr>
          <p:cNvPr id="12" name="Rounded Rectangle 11"/>
          <p:cNvSpPr/>
          <p:nvPr/>
        </p:nvSpPr>
        <p:spPr>
          <a:xfrm>
            <a:off x="6537960" y="2651760"/>
            <a:ext cx="1051560" cy="457200"/>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Feature 4</a:t>
            </a:r>
          </a:p>
        </p:txBody>
      </p:sp>
      <p:sp>
        <p:nvSpPr>
          <p:cNvPr id="13" name="Rounded Rectangle 12"/>
          <p:cNvSpPr/>
          <p:nvPr/>
        </p:nvSpPr>
        <p:spPr>
          <a:xfrm>
            <a:off x="5303520" y="3429000"/>
            <a:ext cx="1051560" cy="457200"/>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2F4C"/>
                </a:solidFill>
                <a:latin typeface="Aptos"/>
              </a:rPr>
              <a:t>Feature 5</a:t>
            </a:r>
          </a:p>
        </p:txBody>
      </p:sp>
      <p:cxnSp>
        <p:nvCxnSpPr>
          <p:cNvPr id="14" name="Connector 13"/>
          <p:cNvCxnSpPr/>
          <p:nvPr/>
        </p:nvCxnSpPr>
        <p:spPr>
          <a:xfrm>
            <a:off x="7772400" y="2880360"/>
            <a:ext cx="685800"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458200" y="2487168"/>
            <a:ext cx="1508760" cy="731520"/>
          </a:xfrm>
          <a:prstGeom prst="roundRect">
            <a:avLst/>
          </a:prstGeom>
          <a:solidFill>
            <a:srgbClr val="E8F6ED"/>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82F4C"/>
                </a:solidFill>
                <a:latin typeface="Aptos"/>
              </a:rPr>
              <a:t>PCA</a:t>
            </a:r>
          </a:p>
        </p:txBody>
      </p:sp>
      <p:cxnSp>
        <p:nvCxnSpPr>
          <p:cNvPr id="16" name="Connector 15"/>
          <p:cNvCxnSpPr/>
          <p:nvPr/>
        </p:nvCxnSpPr>
        <p:spPr>
          <a:xfrm>
            <a:off x="10012680" y="2880360"/>
            <a:ext cx="457200"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287000" y="1874519"/>
            <a:ext cx="1143000" cy="548640"/>
          </a:xfrm>
          <a:prstGeom prst="roundRect">
            <a:avLst/>
          </a:prstGeom>
          <a:solidFill>
            <a:srgbClr val="FFFFFF"/>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82F4C"/>
                </a:solidFill>
                <a:latin typeface="Aptos"/>
              </a:rPr>
              <a:t>PC1</a:t>
            </a:r>
          </a:p>
        </p:txBody>
      </p:sp>
      <p:sp>
        <p:nvSpPr>
          <p:cNvPr id="18" name="Rounded Rectangle 17"/>
          <p:cNvSpPr/>
          <p:nvPr/>
        </p:nvSpPr>
        <p:spPr>
          <a:xfrm>
            <a:off x="10287000" y="2788920"/>
            <a:ext cx="1143000" cy="548640"/>
          </a:xfrm>
          <a:prstGeom prst="roundRect">
            <a:avLst/>
          </a:prstGeom>
          <a:solidFill>
            <a:srgbClr val="FFFFFF"/>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82F4C"/>
                </a:solidFill>
                <a:latin typeface="Aptos"/>
              </a:rPr>
              <a:t>PC2</a:t>
            </a:r>
          </a:p>
        </p:txBody>
      </p:sp>
      <p:sp>
        <p:nvSpPr>
          <p:cNvPr id="19" name="Rounded Rectangle 18"/>
          <p:cNvSpPr/>
          <p:nvPr/>
        </p:nvSpPr>
        <p:spPr>
          <a:xfrm>
            <a:off x="10287000" y="3703320"/>
            <a:ext cx="1143000" cy="548640"/>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82F4C"/>
                </a:solidFill>
                <a:latin typeface="Aptos"/>
              </a:rPr>
              <a:t>PC3…</a:t>
            </a:r>
          </a:p>
        </p:txBody>
      </p:sp>
      <p:sp>
        <p:nvSpPr>
          <p:cNvPr id="20" name="TextBox 19"/>
          <p:cNvSpPr txBox="1"/>
          <p:nvPr/>
        </p:nvSpPr>
        <p:spPr>
          <a:xfrm>
            <a:off x="7315200" y="4800600"/>
            <a:ext cx="3931920" cy="640080"/>
          </a:xfrm>
          <a:prstGeom prst="rect">
            <a:avLst/>
          </a:prstGeom>
          <a:noFill/>
        </p:spPr>
        <p:txBody>
          <a:bodyPr wrap="square">
            <a:spAutoFit/>
          </a:bodyPr>
          <a:lstStyle/>
          <a:p>
            <a:pPr algn="ctr"/>
            <a:r>
              <a:rPr sz="1400" b="1">
                <a:solidFill>
                  <a:srgbClr val="182F4C"/>
                </a:solidFill>
                <a:latin typeface="Aptos"/>
              </a:rPr>
              <a:t>Explained variance tells us how much variation each component retains.</a:t>
            </a:r>
          </a:p>
        </p:txBody>
      </p:sp>
      <p:sp>
        <p:nvSpPr>
          <p:cNvPr id="21" name="TextBox 20"/>
          <p:cNvSpPr txBox="1"/>
          <p:nvPr/>
        </p:nvSpPr>
        <p:spPr>
          <a:xfrm>
            <a:off x="594360" y="6473952"/>
            <a:ext cx="10972800" cy="182880"/>
          </a:xfrm>
          <a:prstGeom prst="rect">
            <a:avLst/>
          </a:prstGeom>
          <a:noFill/>
        </p:spPr>
        <p:txBody>
          <a:bodyPr wrap="square">
            <a:spAutoFit/>
          </a:bodyPr>
          <a:lstStyle/>
          <a:p>
            <a:pPr algn="r"/>
            <a:r>
              <a:rPr sz="900" b="0">
                <a:solidFill>
                  <a:srgbClr val="8997A7"/>
                </a:solidFill>
                <a:latin typeface="Aptos"/>
              </a:rPr>
              <a:t>PBL Assessment 1  •  3/6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r>
              <a:rPr sz="2900" b="1">
                <a:solidFill>
                  <a:srgbClr val="182F4C"/>
                </a:solidFill>
                <a:latin typeface="Aptos"/>
              </a:rPr>
              <a:t>PCA for Visualization &amp; Cluster Analysis</a:t>
            </a:r>
          </a:p>
        </p:txBody>
      </p:sp>
      <p:sp>
        <p:nvSpPr>
          <p:cNvPr id="3" name="TextBox 2"/>
          <p:cNvSpPr txBox="1"/>
          <p:nvPr/>
        </p:nvSpPr>
        <p:spPr>
          <a:xfrm>
            <a:off x="621792" y="886968"/>
            <a:ext cx="10789920" cy="365760"/>
          </a:xfrm>
          <a:prstGeom prst="rect">
            <a:avLst/>
          </a:prstGeom>
          <a:noFill/>
        </p:spPr>
        <p:txBody>
          <a:bodyPr wrap="square">
            <a:spAutoFit/>
          </a:bodyPr>
          <a:lstStyle/>
          <a:p>
            <a:r>
              <a:rPr sz="1250" b="0">
                <a:solidFill>
                  <a:srgbClr val="566373"/>
                </a:solidFill>
                <a:latin typeface="Aptos"/>
              </a:rPr>
              <a:t>Reducing to PC1 and PC2 lets us turn high-dimensional observations into a visual map.</a:t>
            </a:r>
          </a:p>
        </p:txBody>
      </p:sp>
      <p:sp>
        <p:nvSpPr>
          <p:cNvPr id="4" name="Rounded Rectangle 3"/>
          <p:cNvSpPr/>
          <p:nvPr/>
        </p:nvSpPr>
        <p:spPr>
          <a:xfrm>
            <a:off x="594360" y="1325880"/>
            <a:ext cx="3246120" cy="4526280"/>
          </a:xfrm>
          <a:prstGeom prst="roundRect">
            <a:avLst/>
          </a:prstGeom>
          <a:solidFill>
            <a:srgbClr val="FFFFFF"/>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325880"/>
            <a:ext cx="50292" cy="452628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453895"/>
            <a:ext cx="2880360" cy="365760"/>
          </a:xfrm>
          <a:prstGeom prst="rect">
            <a:avLst/>
          </a:prstGeom>
          <a:noFill/>
        </p:spPr>
        <p:txBody>
          <a:bodyPr wrap="square">
            <a:spAutoFit/>
          </a:bodyPr>
          <a:lstStyle/>
          <a:p>
            <a:r>
              <a:rPr sz="1550" b="1">
                <a:solidFill>
                  <a:srgbClr val="182F4C"/>
                </a:solidFill>
                <a:latin typeface="Aptos"/>
              </a:rPr>
              <a:t>Before vs after</a:t>
            </a:r>
          </a:p>
        </p:txBody>
      </p:sp>
      <p:sp>
        <p:nvSpPr>
          <p:cNvPr id="7" name="TextBox 6"/>
          <p:cNvSpPr txBox="1"/>
          <p:nvPr/>
        </p:nvSpPr>
        <p:spPr>
          <a:xfrm>
            <a:off x="795528" y="1892807"/>
            <a:ext cx="2880360" cy="3840480"/>
          </a:xfrm>
          <a:prstGeom prst="rect">
            <a:avLst/>
          </a:prstGeom>
          <a:noFill/>
        </p:spPr>
        <p:txBody>
          <a:bodyPr wrap="square">
            <a:spAutoFit/>
          </a:bodyPr>
          <a:lstStyle/>
          <a:p>
            <a:r>
              <a:rPr sz="1150" b="0">
                <a:solidFill>
                  <a:srgbClr val="566373"/>
                </a:solidFill>
                <a:latin typeface="Aptos"/>
              </a:rPr>
              <a:t>BEFORE PCA
8–10+ dimensions
→ Difficult to visualize directly
AFTER PCA
PC1 + PC2
→ A simple 2D representation
The reduced space helps us inspect similarity, groups and unusual observations.</a:t>
            </a:r>
          </a:p>
        </p:txBody>
      </p:sp>
      <p:sp>
        <p:nvSpPr>
          <p:cNvPr id="8" name="Rounded Rectangle 7"/>
          <p:cNvSpPr/>
          <p:nvPr/>
        </p:nvSpPr>
        <p:spPr>
          <a:xfrm>
            <a:off x="4160520" y="1325880"/>
            <a:ext cx="4709160" cy="4526280"/>
          </a:xfrm>
          <a:prstGeom prst="roundRect">
            <a:avLst/>
          </a:prstGeom>
          <a:solidFill>
            <a:srgbClr val="FFFFFF"/>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4709160" y="5257800"/>
            <a:ext cx="3749040" cy="0"/>
          </a:xfrm>
          <a:prstGeom prst="line">
            <a:avLst/>
          </a:prstGeom>
          <a:ln>
            <a:solidFill>
              <a:srgbClr val="8997A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4709160" y="1874519"/>
            <a:ext cx="0" cy="3383281"/>
          </a:xfrm>
          <a:prstGeom prst="line">
            <a:avLst/>
          </a:prstGeom>
          <a:ln>
            <a:solidFill>
              <a:srgbClr val="8997A7"/>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212080" y="438912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486400" y="411480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60720" y="448056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532120" y="466344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537960" y="288036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812280" y="315468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086600" y="274320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858000" y="251460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635240" y="429768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909560" y="457200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138160" y="411480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275320" y="4389120"/>
            <a:ext cx="137160" cy="137160"/>
          </a:xfrm>
          <a:prstGeom prst="ellipse">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0" y="5321808"/>
            <a:ext cx="457200" cy="228600"/>
          </a:xfrm>
          <a:prstGeom prst="rect">
            <a:avLst/>
          </a:prstGeom>
          <a:noFill/>
        </p:spPr>
        <p:txBody>
          <a:bodyPr wrap="square">
            <a:spAutoFit/>
          </a:bodyPr>
          <a:lstStyle/>
          <a:p>
            <a:r>
              <a:rPr sz="1000" b="1">
                <a:solidFill>
                  <a:srgbClr val="566373"/>
                </a:solidFill>
                <a:latin typeface="Aptos"/>
              </a:rPr>
              <a:t>PC1</a:t>
            </a:r>
          </a:p>
        </p:txBody>
      </p:sp>
      <p:sp>
        <p:nvSpPr>
          <p:cNvPr id="24" name="TextBox 23"/>
          <p:cNvSpPr txBox="1"/>
          <p:nvPr/>
        </p:nvSpPr>
        <p:spPr>
          <a:xfrm>
            <a:off x="4315968" y="1828800"/>
            <a:ext cx="457200" cy="228600"/>
          </a:xfrm>
          <a:prstGeom prst="rect">
            <a:avLst/>
          </a:prstGeom>
          <a:noFill/>
        </p:spPr>
        <p:txBody>
          <a:bodyPr wrap="square">
            <a:spAutoFit/>
          </a:bodyPr>
          <a:lstStyle/>
          <a:p>
            <a:r>
              <a:rPr sz="1000" b="1">
                <a:solidFill>
                  <a:srgbClr val="566373"/>
                </a:solidFill>
                <a:latin typeface="Aptos"/>
              </a:rPr>
              <a:t>PC2</a:t>
            </a:r>
          </a:p>
        </p:txBody>
      </p:sp>
      <p:sp>
        <p:nvSpPr>
          <p:cNvPr id="25" name="TextBox 24"/>
          <p:cNvSpPr txBox="1"/>
          <p:nvPr/>
        </p:nvSpPr>
        <p:spPr>
          <a:xfrm>
            <a:off x="5029200" y="4800600"/>
            <a:ext cx="731520" cy="274320"/>
          </a:xfrm>
          <a:prstGeom prst="rect">
            <a:avLst/>
          </a:prstGeom>
          <a:noFill/>
        </p:spPr>
        <p:txBody>
          <a:bodyPr wrap="square">
            <a:spAutoFit/>
          </a:bodyPr>
          <a:lstStyle/>
          <a:p>
            <a:r>
              <a:rPr sz="900" b="0">
                <a:solidFill>
                  <a:srgbClr val="566373"/>
                </a:solidFill>
                <a:latin typeface="Aptos"/>
              </a:rPr>
              <a:t>Group A</a:t>
            </a:r>
          </a:p>
        </p:txBody>
      </p:sp>
      <p:sp>
        <p:nvSpPr>
          <p:cNvPr id="26" name="TextBox 25"/>
          <p:cNvSpPr txBox="1"/>
          <p:nvPr/>
        </p:nvSpPr>
        <p:spPr>
          <a:xfrm>
            <a:off x="6492240" y="2148840"/>
            <a:ext cx="731520" cy="274320"/>
          </a:xfrm>
          <a:prstGeom prst="rect">
            <a:avLst/>
          </a:prstGeom>
          <a:noFill/>
        </p:spPr>
        <p:txBody>
          <a:bodyPr wrap="square">
            <a:spAutoFit/>
          </a:bodyPr>
          <a:lstStyle/>
          <a:p>
            <a:r>
              <a:rPr sz="900" b="0">
                <a:solidFill>
                  <a:srgbClr val="566373"/>
                </a:solidFill>
                <a:latin typeface="Aptos"/>
              </a:rPr>
              <a:t>Group B</a:t>
            </a:r>
          </a:p>
        </p:txBody>
      </p:sp>
      <p:sp>
        <p:nvSpPr>
          <p:cNvPr id="27" name="TextBox 26"/>
          <p:cNvSpPr txBox="1"/>
          <p:nvPr/>
        </p:nvSpPr>
        <p:spPr>
          <a:xfrm>
            <a:off x="7543800" y="4754880"/>
            <a:ext cx="731520" cy="274320"/>
          </a:xfrm>
          <a:prstGeom prst="rect">
            <a:avLst/>
          </a:prstGeom>
          <a:noFill/>
        </p:spPr>
        <p:txBody>
          <a:bodyPr wrap="square">
            <a:spAutoFit/>
          </a:bodyPr>
          <a:lstStyle/>
          <a:p>
            <a:r>
              <a:rPr sz="900" b="0">
                <a:solidFill>
                  <a:srgbClr val="566373"/>
                </a:solidFill>
                <a:latin typeface="Aptos"/>
              </a:rPr>
              <a:t>Group C</a:t>
            </a:r>
          </a:p>
        </p:txBody>
      </p:sp>
      <p:sp>
        <p:nvSpPr>
          <p:cNvPr id="28" name="Rounded Rectangle 27"/>
          <p:cNvSpPr/>
          <p:nvPr/>
        </p:nvSpPr>
        <p:spPr>
          <a:xfrm>
            <a:off x="9098280" y="1325880"/>
            <a:ext cx="2423160" cy="2011680"/>
          </a:xfrm>
          <a:prstGeom prst="roundRect">
            <a:avLst/>
          </a:prstGeom>
          <a:solidFill>
            <a:srgbClr val="FFFFFF"/>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098280" y="1325880"/>
            <a:ext cx="50292" cy="201168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99448" y="1453895"/>
            <a:ext cx="2057400" cy="365760"/>
          </a:xfrm>
          <a:prstGeom prst="rect">
            <a:avLst/>
          </a:prstGeom>
          <a:noFill/>
        </p:spPr>
        <p:txBody>
          <a:bodyPr wrap="square">
            <a:spAutoFit/>
          </a:bodyPr>
          <a:lstStyle/>
          <a:p>
            <a:r>
              <a:rPr sz="1550" b="1">
                <a:solidFill>
                  <a:srgbClr val="182F4C"/>
                </a:solidFill>
                <a:latin typeface="Aptos"/>
              </a:rPr>
              <a:t>What can we observe?</a:t>
            </a:r>
          </a:p>
        </p:txBody>
      </p:sp>
      <p:sp>
        <p:nvSpPr>
          <p:cNvPr id="31" name="TextBox 30"/>
          <p:cNvSpPr txBox="1"/>
          <p:nvPr/>
        </p:nvSpPr>
        <p:spPr>
          <a:xfrm>
            <a:off x="9299448" y="1892807"/>
            <a:ext cx="2057400" cy="1325880"/>
          </a:xfrm>
          <a:prstGeom prst="rect">
            <a:avLst/>
          </a:prstGeom>
          <a:noFill/>
        </p:spPr>
        <p:txBody>
          <a:bodyPr wrap="square">
            <a:spAutoFit/>
          </a:bodyPr>
          <a:lstStyle/>
          <a:p>
            <a:r>
              <a:rPr sz="1150" b="0">
                <a:solidFill>
                  <a:srgbClr val="566373"/>
                </a:solidFill>
                <a:latin typeface="Aptos"/>
              </a:rPr>
              <a:t>• Nearby points → similar patterns
• Dense groups → possible structure
• Isolated points → possible outliers
• Overall shape → easier interpretation</a:t>
            </a:r>
          </a:p>
        </p:txBody>
      </p:sp>
      <p:sp>
        <p:nvSpPr>
          <p:cNvPr id="32" name="Rounded Rectangle 31"/>
          <p:cNvSpPr/>
          <p:nvPr/>
        </p:nvSpPr>
        <p:spPr>
          <a:xfrm>
            <a:off x="9098280" y="3566160"/>
            <a:ext cx="2423160" cy="2286000"/>
          </a:xfrm>
          <a:prstGeom prst="roundRect">
            <a:avLst/>
          </a:prstGeom>
          <a:solidFill>
            <a:srgbClr val="E8F6ED"/>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098280" y="3566160"/>
            <a:ext cx="50292" cy="228600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99448" y="3694176"/>
            <a:ext cx="2057400" cy="365760"/>
          </a:xfrm>
          <a:prstGeom prst="rect">
            <a:avLst/>
          </a:prstGeom>
          <a:noFill/>
        </p:spPr>
        <p:txBody>
          <a:bodyPr wrap="square">
            <a:spAutoFit/>
          </a:bodyPr>
          <a:lstStyle/>
          <a:p>
            <a:r>
              <a:rPr sz="1550" b="1">
                <a:solidFill>
                  <a:srgbClr val="182F4C"/>
                </a:solidFill>
                <a:latin typeface="Aptos"/>
              </a:rPr>
              <a:t>PCA ≠ Clustering</a:t>
            </a:r>
          </a:p>
        </p:txBody>
      </p:sp>
      <p:sp>
        <p:nvSpPr>
          <p:cNvPr id="35" name="TextBox 34"/>
          <p:cNvSpPr txBox="1"/>
          <p:nvPr/>
        </p:nvSpPr>
        <p:spPr>
          <a:xfrm>
            <a:off x="9299448" y="4133087"/>
            <a:ext cx="2057400" cy="1600200"/>
          </a:xfrm>
          <a:prstGeom prst="rect">
            <a:avLst/>
          </a:prstGeom>
          <a:noFill/>
        </p:spPr>
        <p:txBody>
          <a:bodyPr wrap="square">
            <a:spAutoFit/>
          </a:bodyPr>
          <a:lstStyle/>
          <a:p>
            <a:r>
              <a:rPr sz="1150" b="0">
                <a:solidFill>
                  <a:srgbClr val="566373"/>
                </a:solidFill>
                <a:latin typeface="Aptos"/>
              </a:rPr>
              <a:t>PCA
Reduces dimensions.
K-Means
Creates/assigns clusters.
Visualization
Helps us inspect the result.</a:t>
            </a:r>
          </a:p>
        </p:txBody>
      </p:sp>
      <p:sp>
        <p:nvSpPr>
          <p:cNvPr id="36" name="TextBox 35"/>
          <p:cNvSpPr txBox="1"/>
          <p:nvPr/>
        </p:nvSpPr>
        <p:spPr>
          <a:xfrm>
            <a:off x="594360" y="6473952"/>
            <a:ext cx="10972800" cy="182880"/>
          </a:xfrm>
          <a:prstGeom prst="rect">
            <a:avLst/>
          </a:prstGeom>
          <a:noFill/>
        </p:spPr>
        <p:txBody>
          <a:bodyPr wrap="square">
            <a:spAutoFit/>
          </a:bodyPr>
          <a:lstStyle/>
          <a:p>
            <a:pPr algn="r"/>
            <a:r>
              <a:rPr sz="900" b="0">
                <a:solidFill>
                  <a:srgbClr val="8997A7"/>
                </a:solidFill>
                <a:latin typeface="Aptos"/>
              </a:rPr>
              <a:t>PBL Assessment 1  •  4/6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r>
              <a:rPr sz="2900" b="1">
                <a:solidFill>
                  <a:srgbClr val="182F4C"/>
                </a:solidFill>
                <a:latin typeface="Aptos"/>
              </a:rPr>
              <a:t>Our Project: Spotify Music Feature Reduction</a:t>
            </a:r>
          </a:p>
        </p:txBody>
      </p:sp>
      <p:sp>
        <p:nvSpPr>
          <p:cNvPr id="3" name="TextBox 2"/>
          <p:cNvSpPr txBox="1"/>
          <p:nvPr/>
        </p:nvSpPr>
        <p:spPr>
          <a:xfrm>
            <a:off x="621792" y="886968"/>
            <a:ext cx="10789920" cy="365760"/>
          </a:xfrm>
          <a:prstGeom prst="rect">
            <a:avLst/>
          </a:prstGeom>
          <a:noFill/>
        </p:spPr>
        <p:txBody>
          <a:bodyPr wrap="square">
            <a:spAutoFit/>
          </a:bodyPr>
          <a:lstStyle/>
          <a:p>
            <a:r>
              <a:rPr sz="1250" b="0">
                <a:solidFill>
                  <a:srgbClr val="566373"/>
                </a:solidFill>
                <a:latin typeface="Aptos"/>
              </a:rPr>
              <a:t>Now we apply the concepts to a real-world music dataset.</a:t>
            </a:r>
          </a:p>
        </p:txBody>
      </p:sp>
      <p:sp>
        <p:nvSpPr>
          <p:cNvPr id="4" name="Rounded Rectangle 3"/>
          <p:cNvSpPr/>
          <p:nvPr/>
        </p:nvSpPr>
        <p:spPr>
          <a:xfrm>
            <a:off x="640080" y="1325880"/>
            <a:ext cx="3657600" cy="4526280"/>
          </a:xfrm>
          <a:prstGeom prst="roundRect">
            <a:avLst/>
          </a:prstGeom>
          <a:solidFill>
            <a:srgbClr val="FFFFFF"/>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325880"/>
            <a:ext cx="50292" cy="452628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453895"/>
            <a:ext cx="3291840" cy="365760"/>
          </a:xfrm>
          <a:prstGeom prst="rect">
            <a:avLst/>
          </a:prstGeom>
          <a:noFill/>
        </p:spPr>
        <p:txBody>
          <a:bodyPr wrap="square">
            <a:spAutoFit/>
          </a:bodyPr>
          <a:lstStyle/>
          <a:p>
            <a:r>
              <a:rPr sz="1550" b="1">
                <a:solidFill>
                  <a:srgbClr val="182F4C"/>
                </a:solidFill>
                <a:latin typeface="Aptos"/>
              </a:rPr>
              <a:t>Spotify audio features</a:t>
            </a:r>
          </a:p>
        </p:txBody>
      </p:sp>
      <p:sp>
        <p:nvSpPr>
          <p:cNvPr id="7" name="TextBox 6"/>
          <p:cNvSpPr txBox="1"/>
          <p:nvPr/>
        </p:nvSpPr>
        <p:spPr>
          <a:xfrm>
            <a:off x="841247" y="1892807"/>
            <a:ext cx="3291840" cy="3840480"/>
          </a:xfrm>
          <a:prstGeom prst="rect">
            <a:avLst/>
          </a:prstGeom>
          <a:noFill/>
        </p:spPr>
        <p:txBody>
          <a:bodyPr wrap="square">
            <a:spAutoFit/>
          </a:bodyPr>
          <a:lstStyle/>
          <a:p>
            <a:r>
              <a:rPr sz="1150" b="0">
                <a:solidFill>
                  <a:srgbClr val="566373"/>
                </a:solidFill>
                <a:latin typeface="Aptos"/>
              </a:rPr>
              <a:t>A track can be described using features such as:
• Danceability
• Energy
• Valence
• Acousticness
• Loudness
• Tempo
• Speechiness
• Liveness
• Instrumentalness</a:t>
            </a:r>
          </a:p>
        </p:txBody>
      </p:sp>
      <p:sp>
        <p:nvSpPr>
          <p:cNvPr id="8" name="TextBox 7"/>
          <p:cNvSpPr txBox="1"/>
          <p:nvPr/>
        </p:nvSpPr>
        <p:spPr>
          <a:xfrm>
            <a:off x="4709160" y="1417320"/>
            <a:ext cx="3108960" cy="457200"/>
          </a:xfrm>
          <a:prstGeom prst="rect">
            <a:avLst/>
          </a:prstGeom>
          <a:noFill/>
        </p:spPr>
        <p:txBody>
          <a:bodyPr wrap="square">
            <a:spAutoFit/>
          </a:bodyPr>
          <a:lstStyle/>
          <a:p>
            <a:r>
              <a:rPr sz="1700" b="1">
                <a:solidFill>
                  <a:srgbClr val="182F4C"/>
                </a:solidFill>
                <a:latin typeface="Aptos"/>
              </a:rPr>
              <a:t>Our project question</a:t>
            </a:r>
          </a:p>
        </p:txBody>
      </p:sp>
      <p:sp>
        <p:nvSpPr>
          <p:cNvPr id="9" name="TextBox 8"/>
          <p:cNvSpPr txBox="1"/>
          <p:nvPr/>
        </p:nvSpPr>
        <p:spPr>
          <a:xfrm>
            <a:off x="4709160" y="1965960"/>
            <a:ext cx="6126480" cy="914400"/>
          </a:xfrm>
          <a:prstGeom prst="rect">
            <a:avLst/>
          </a:prstGeom>
          <a:noFill/>
        </p:spPr>
        <p:txBody>
          <a:bodyPr wrap="square">
            <a:spAutoFit/>
          </a:bodyPr>
          <a:lstStyle/>
          <a:p>
            <a:r>
              <a:rPr sz="2000" b="1">
                <a:solidFill>
                  <a:srgbClr val="243040"/>
                </a:solidFill>
                <a:latin typeface="Aptos"/>
              </a:rPr>
              <a:t>Can PCA reduce these many audio features into a smaller representation while making similar musical patterns easier to visualize?</a:t>
            </a:r>
          </a:p>
        </p:txBody>
      </p:sp>
      <p:sp>
        <p:nvSpPr>
          <p:cNvPr id="10" name="Rounded Rectangle 9"/>
          <p:cNvSpPr/>
          <p:nvPr/>
        </p:nvSpPr>
        <p:spPr>
          <a:xfrm>
            <a:off x="4800600" y="3337560"/>
            <a:ext cx="1600200" cy="640080"/>
          </a:xfrm>
          <a:prstGeom prst="roundRect">
            <a:avLst/>
          </a:prstGeom>
          <a:solidFill>
            <a:srgbClr val="E8F6ED"/>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82F4C"/>
                </a:solidFill>
                <a:latin typeface="Aptos"/>
              </a:rPr>
              <a:t>Spotify data</a:t>
            </a:r>
          </a:p>
        </p:txBody>
      </p:sp>
      <p:cxnSp>
        <p:nvCxnSpPr>
          <p:cNvPr id="11" name="Connector 10"/>
          <p:cNvCxnSpPr/>
          <p:nvPr/>
        </p:nvCxnSpPr>
        <p:spPr>
          <a:xfrm>
            <a:off x="6446520" y="3657600"/>
            <a:ext cx="548640"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995160" y="3337560"/>
            <a:ext cx="1371600" cy="640080"/>
          </a:xfrm>
          <a:prstGeom prst="roundRect">
            <a:avLst/>
          </a:prstGeom>
          <a:solidFill>
            <a:srgbClr val="FFFFFF"/>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82F4C"/>
                </a:solidFill>
                <a:latin typeface="Aptos"/>
              </a:rPr>
              <a:t>PCA</a:t>
            </a:r>
          </a:p>
        </p:txBody>
      </p:sp>
      <p:cxnSp>
        <p:nvCxnSpPr>
          <p:cNvPr id="13" name="Connector 12"/>
          <p:cNvCxnSpPr/>
          <p:nvPr/>
        </p:nvCxnSpPr>
        <p:spPr>
          <a:xfrm>
            <a:off x="8412480" y="3657600"/>
            <a:ext cx="548640"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961120" y="3337560"/>
            <a:ext cx="1554480" cy="640080"/>
          </a:xfrm>
          <a:prstGeom prst="roundRect">
            <a:avLst/>
          </a:prstGeom>
          <a:solidFill>
            <a:srgbClr val="E8F6ED"/>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82F4C"/>
                </a:solidFill>
                <a:latin typeface="Aptos"/>
              </a:rPr>
              <a:t>PC1 + PC2</a:t>
            </a:r>
          </a:p>
        </p:txBody>
      </p:sp>
      <p:sp>
        <p:nvSpPr>
          <p:cNvPr id="15" name="Rounded Rectangle 14"/>
          <p:cNvSpPr/>
          <p:nvPr/>
        </p:nvSpPr>
        <p:spPr>
          <a:xfrm>
            <a:off x="4709160" y="4572000"/>
            <a:ext cx="6263640" cy="914400"/>
          </a:xfrm>
          <a:prstGeom prst="roundRect">
            <a:avLst/>
          </a:prstGeom>
          <a:solidFill>
            <a:srgbClr val="FFFFFF"/>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709160" y="4572000"/>
            <a:ext cx="50292" cy="91440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10328" y="4700016"/>
            <a:ext cx="5897879" cy="365760"/>
          </a:xfrm>
          <a:prstGeom prst="rect">
            <a:avLst/>
          </a:prstGeom>
          <a:noFill/>
        </p:spPr>
        <p:txBody>
          <a:bodyPr wrap="square">
            <a:spAutoFit/>
          </a:bodyPr>
          <a:lstStyle/>
          <a:p>
            <a:r>
              <a:rPr sz="1550" b="1">
                <a:solidFill>
                  <a:srgbClr val="182F4C"/>
                </a:solidFill>
                <a:latin typeface="Aptos"/>
              </a:rPr>
              <a:t>Dataset</a:t>
            </a:r>
          </a:p>
        </p:txBody>
      </p:sp>
      <p:sp>
        <p:nvSpPr>
          <p:cNvPr id="18" name="TextBox 17"/>
          <p:cNvSpPr txBox="1"/>
          <p:nvPr/>
        </p:nvSpPr>
        <p:spPr>
          <a:xfrm>
            <a:off x="4910328" y="5138928"/>
            <a:ext cx="5897879" cy="228600"/>
          </a:xfrm>
          <a:prstGeom prst="rect">
            <a:avLst/>
          </a:prstGeom>
          <a:noFill/>
        </p:spPr>
        <p:txBody>
          <a:bodyPr wrap="square">
            <a:spAutoFit/>
          </a:bodyPr>
          <a:lstStyle/>
          <a:p>
            <a:r>
              <a:rPr sz="1150" b="0">
                <a:solidFill>
                  <a:srgbClr val="566373"/>
                </a:solidFill>
                <a:latin typeface="Aptos"/>
              </a:rPr>
              <a:t>Spotify Tracks Dataset — approximately 114K tracks; we will use relevant numerical audio features.</a:t>
            </a:r>
          </a:p>
        </p:txBody>
      </p:sp>
      <p:sp>
        <p:nvSpPr>
          <p:cNvPr id="19" name="TextBox 18"/>
          <p:cNvSpPr txBox="1"/>
          <p:nvPr/>
        </p:nvSpPr>
        <p:spPr>
          <a:xfrm>
            <a:off x="594360" y="6473952"/>
            <a:ext cx="10972800" cy="182880"/>
          </a:xfrm>
          <a:prstGeom prst="rect">
            <a:avLst/>
          </a:prstGeom>
          <a:noFill/>
        </p:spPr>
        <p:txBody>
          <a:bodyPr wrap="square">
            <a:spAutoFit/>
          </a:bodyPr>
          <a:lstStyle/>
          <a:p>
            <a:pPr algn="r"/>
            <a:r>
              <a:rPr sz="900" b="0">
                <a:solidFill>
                  <a:srgbClr val="8997A7"/>
                </a:solidFill>
                <a:latin typeface="Aptos"/>
              </a:rPr>
              <a:t>PBL Assessment 1  •  5/6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r>
              <a:rPr sz="2900" b="1">
                <a:solidFill>
                  <a:srgbClr val="182F4C"/>
                </a:solidFill>
                <a:latin typeface="Aptos"/>
              </a:rPr>
              <a:t>How We Will Build It</a:t>
            </a:r>
          </a:p>
        </p:txBody>
      </p:sp>
      <p:sp>
        <p:nvSpPr>
          <p:cNvPr id="3" name="TextBox 2"/>
          <p:cNvSpPr txBox="1"/>
          <p:nvPr/>
        </p:nvSpPr>
        <p:spPr>
          <a:xfrm>
            <a:off x="621792" y="886968"/>
            <a:ext cx="10789920" cy="365760"/>
          </a:xfrm>
          <a:prstGeom prst="rect">
            <a:avLst/>
          </a:prstGeom>
          <a:noFill/>
        </p:spPr>
        <p:txBody>
          <a:bodyPr wrap="square">
            <a:spAutoFit/>
          </a:bodyPr>
          <a:lstStyle/>
          <a:p>
            <a:r>
              <a:rPr sz="1250" b="0">
                <a:solidFill>
                  <a:srgbClr val="566373"/>
                </a:solidFill>
                <a:latin typeface="Aptos"/>
              </a:rPr>
              <a:t>Assessment 1 covers the proposed logic; implementation comes in the next phase.</a:t>
            </a:r>
          </a:p>
        </p:txBody>
      </p:sp>
      <p:sp>
        <p:nvSpPr>
          <p:cNvPr id="4" name="Rounded Rectangle 3"/>
          <p:cNvSpPr/>
          <p:nvPr/>
        </p:nvSpPr>
        <p:spPr>
          <a:xfrm>
            <a:off x="502920" y="1234440"/>
            <a:ext cx="1755648" cy="502920"/>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82F4C"/>
                </a:solidFill>
                <a:latin typeface="Aptos"/>
              </a:rPr>
              <a:t>1</a:t>
            </a:r>
          </a:p>
        </p:txBody>
      </p:sp>
      <p:sp>
        <p:nvSpPr>
          <p:cNvPr id="5" name="TextBox 4"/>
          <p:cNvSpPr txBox="1"/>
          <p:nvPr/>
        </p:nvSpPr>
        <p:spPr>
          <a:xfrm>
            <a:off x="502920" y="1828800"/>
            <a:ext cx="1755648" cy="320040"/>
          </a:xfrm>
          <a:prstGeom prst="rect">
            <a:avLst/>
          </a:prstGeom>
          <a:noFill/>
        </p:spPr>
        <p:txBody>
          <a:bodyPr wrap="square">
            <a:spAutoFit/>
          </a:bodyPr>
          <a:lstStyle/>
          <a:p>
            <a:pPr algn="ctr"/>
            <a:r>
              <a:rPr sz="1300" b="1">
                <a:solidFill>
                  <a:srgbClr val="182F4C"/>
                </a:solidFill>
                <a:latin typeface="Aptos"/>
              </a:rPr>
              <a:t>Preprocess</a:t>
            </a:r>
          </a:p>
        </p:txBody>
      </p:sp>
      <p:sp>
        <p:nvSpPr>
          <p:cNvPr id="6" name="TextBox 5"/>
          <p:cNvSpPr txBox="1"/>
          <p:nvPr/>
        </p:nvSpPr>
        <p:spPr>
          <a:xfrm>
            <a:off x="502920" y="2176272"/>
            <a:ext cx="1755648" cy="548640"/>
          </a:xfrm>
          <a:prstGeom prst="rect">
            <a:avLst/>
          </a:prstGeom>
          <a:noFill/>
        </p:spPr>
        <p:txBody>
          <a:bodyPr wrap="square">
            <a:spAutoFit/>
          </a:bodyPr>
          <a:lstStyle/>
          <a:p>
            <a:pPr algn="ctr"/>
            <a:r>
              <a:rPr sz="950" b="0">
                <a:solidFill>
                  <a:srgbClr val="566373"/>
                </a:solidFill>
                <a:latin typeface="Aptos"/>
              </a:rPr>
              <a:t>Clean the dataset</a:t>
            </a:r>
          </a:p>
        </p:txBody>
      </p:sp>
      <p:cxnSp>
        <p:nvCxnSpPr>
          <p:cNvPr id="7" name="Connector 6"/>
          <p:cNvCxnSpPr/>
          <p:nvPr/>
        </p:nvCxnSpPr>
        <p:spPr>
          <a:xfrm>
            <a:off x="2258568" y="1481328"/>
            <a:ext cx="109728"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23160" y="1234440"/>
            <a:ext cx="1755648" cy="502920"/>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82F4C"/>
                </a:solidFill>
                <a:latin typeface="Aptos"/>
              </a:rPr>
              <a:t>2</a:t>
            </a:r>
          </a:p>
        </p:txBody>
      </p:sp>
      <p:sp>
        <p:nvSpPr>
          <p:cNvPr id="9" name="TextBox 8"/>
          <p:cNvSpPr txBox="1"/>
          <p:nvPr/>
        </p:nvSpPr>
        <p:spPr>
          <a:xfrm>
            <a:off x="2423160" y="1828800"/>
            <a:ext cx="1755648" cy="320040"/>
          </a:xfrm>
          <a:prstGeom prst="rect">
            <a:avLst/>
          </a:prstGeom>
          <a:noFill/>
        </p:spPr>
        <p:txBody>
          <a:bodyPr wrap="square">
            <a:spAutoFit/>
          </a:bodyPr>
          <a:lstStyle/>
          <a:p>
            <a:pPr algn="ctr"/>
            <a:r>
              <a:rPr sz="1300" b="1">
                <a:solidFill>
                  <a:srgbClr val="182F4C"/>
                </a:solidFill>
                <a:latin typeface="Aptos"/>
              </a:rPr>
              <a:t>Select</a:t>
            </a:r>
          </a:p>
        </p:txBody>
      </p:sp>
      <p:sp>
        <p:nvSpPr>
          <p:cNvPr id="10" name="TextBox 9"/>
          <p:cNvSpPr txBox="1"/>
          <p:nvPr/>
        </p:nvSpPr>
        <p:spPr>
          <a:xfrm>
            <a:off x="2423160" y="2176272"/>
            <a:ext cx="1755648" cy="548640"/>
          </a:xfrm>
          <a:prstGeom prst="rect">
            <a:avLst/>
          </a:prstGeom>
          <a:noFill/>
        </p:spPr>
        <p:txBody>
          <a:bodyPr wrap="square">
            <a:spAutoFit/>
          </a:bodyPr>
          <a:lstStyle/>
          <a:p>
            <a:pPr algn="ctr"/>
            <a:r>
              <a:rPr sz="950" b="0">
                <a:solidFill>
                  <a:srgbClr val="566373"/>
                </a:solidFill>
                <a:latin typeface="Aptos"/>
              </a:rPr>
              <a:t>Choose audio features</a:t>
            </a:r>
          </a:p>
        </p:txBody>
      </p:sp>
      <p:cxnSp>
        <p:nvCxnSpPr>
          <p:cNvPr id="11" name="Connector 10"/>
          <p:cNvCxnSpPr/>
          <p:nvPr/>
        </p:nvCxnSpPr>
        <p:spPr>
          <a:xfrm>
            <a:off x="4178808" y="1481328"/>
            <a:ext cx="109728"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43400" y="1234440"/>
            <a:ext cx="1755648" cy="502920"/>
          </a:xfrm>
          <a:prstGeom prst="roundRect">
            <a:avLst/>
          </a:prstGeom>
          <a:solidFill>
            <a:srgbClr val="FFFFFF"/>
          </a:solidFill>
          <a:ln w="17780">
            <a:solidFill>
              <a:srgbClr val="899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82F4C"/>
                </a:solidFill>
                <a:latin typeface="Aptos"/>
              </a:rPr>
              <a:t>3</a:t>
            </a:r>
          </a:p>
        </p:txBody>
      </p:sp>
      <p:sp>
        <p:nvSpPr>
          <p:cNvPr id="13" name="TextBox 12"/>
          <p:cNvSpPr txBox="1"/>
          <p:nvPr/>
        </p:nvSpPr>
        <p:spPr>
          <a:xfrm>
            <a:off x="4343400" y="1828800"/>
            <a:ext cx="1755648" cy="320040"/>
          </a:xfrm>
          <a:prstGeom prst="rect">
            <a:avLst/>
          </a:prstGeom>
          <a:noFill/>
        </p:spPr>
        <p:txBody>
          <a:bodyPr wrap="square">
            <a:spAutoFit/>
          </a:bodyPr>
          <a:lstStyle/>
          <a:p>
            <a:pPr algn="ctr"/>
            <a:r>
              <a:rPr sz="1300" b="1">
                <a:solidFill>
                  <a:srgbClr val="182F4C"/>
                </a:solidFill>
                <a:latin typeface="Aptos"/>
              </a:rPr>
              <a:t>Standardize</a:t>
            </a:r>
          </a:p>
        </p:txBody>
      </p:sp>
      <p:sp>
        <p:nvSpPr>
          <p:cNvPr id="14" name="TextBox 13"/>
          <p:cNvSpPr txBox="1"/>
          <p:nvPr/>
        </p:nvSpPr>
        <p:spPr>
          <a:xfrm>
            <a:off x="4343400" y="2176272"/>
            <a:ext cx="1755648" cy="548640"/>
          </a:xfrm>
          <a:prstGeom prst="rect">
            <a:avLst/>
          </a:prstGeom>
          <a:noFill/>
        </p:spPr>
        <p:txBody>
          <a:bodyPr wrap="square">
            <a:spAutoFit/>
          </a:bodyPr>
          <a:lstStyle/>
          <a:p>
            <a:pPr algn="ctr"/>
            <a:r>
              <a:rPr sz="950" b="0">
                <a:solidFill>
                  <a:srgbClr val="566373"/>
                </a:solidFill>
                <a:latin typeface="Aptos"/>
              </a:rPr>
              <a:t>Put features on a comparable scale</a:t>
            </a:r>
          </a:p>
        </p:txBody>
      </p:sp>
      <p:cxnSp>
        <p:nvCxnSpPr>
          <p:cNvPr id="15" name="Connector 14"/>
          <p:cNvCxnSpPr/>
          <p:nvPr/>
        </p:nvCxnSpPr>
        <p:spPr>
          <a:xfrm>
            <a:off x="6099048" y="1481328"/>
            <a:ext cx="109728"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63640" y="1234440"/>
            <a:ext cx="1755648" cy="502920"/>
          </a:xfrm>
          <a:prstGeom prst="roundRect">
            <a:avLst/>
          </a:prstGeom>
          <a:solidFill>
            <a:srgbClr val="E8F6ED"/>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82F4C"/>
                </a:solidFill>
                <a:latin typeface="Aptos"/>
              </a:rPr>
              <a:t>4</a:t>
            </a:r>
          </a:p>
        </p:txBody>
      </p:sp>
      <p:sp>
        <p:nvSpPr>
          <p:cNvPr id="17" name="TextBox 16"/>
          <p:cNvSpPr txBox="1"/>
          <p:nvPr/>
        </p:nvSpPr>
        <p:spPr>
          <a:xfrm>
            <a:off x="6263640" y="1828800"/>
            <a:ext cx="1755648" cy="320040"/>
          </a:xfrm>
          <a:prstGeom prst="rect">
            <a:avLst/>
          </a:prstGeom>
          <a:noFill/>
        </p:spPr>
        <p:txBody>
          <a:bodyPr wrap="square">
            <a:spAutoFit/>
          </a:bodyPr>
          <a:lstStyle/>
          <a:p>
            <a:pPr algn="ctr"/>
            <a:r>
              <a:rPr sz="1300" b="1">
                <a:solidFill>
                  <a:srgbClr val="182F4C"/>
                </a:solidFill>
                <a:latin typeface="Aptos"/>
              </a:rPr>
              <a:t>PCA</a:t>
            </a:r>
          </a:p>
        </p:txBody>
      </p:sp>
      <p:sp>
        <p:nvSpPr>
          <p:cNvPr id="18" name="TextBox 17"/>
          <p:cNvSpPr txBox="1"/>
          <p:nvPr/>
        </p:nvSpPr>
        <p:spPr>
          <a:xfrm>
            <a:off x="6263640" y="2176272"/>
            <a:ext cx="1755648" cy="548640"/>
          </a:xfrm>
          <a:prstGeom prst="rect">
            <a:avLst/>
          </a:prstGeom>
          <a:noFill/>
        </p:spPr>
        <p:txBody>
          <a:bodyPr wrap="square">
            <a:spAutoFit/>
          </a:bodyPr>
          <a:lstStyle/>
          <a:p>
            <a:pPr algn="ctr"/>
            <a:r>
              <a:rPr sz="950" b="0">
                <a:solidFill>
                  <a:srgbClr val="566373"/>
                </a:solidFill>
                <a:latin typeface="Aptos"/>
              </a:rPr>
              <a:t>Create principal components</a:t>
            </a:r>
          </a:p>
        </p:txBody>
      </p:sp>
      <p:cxnSp>
        <p:nvCxnSpPr>
          <p:cNvPr id="19" name="Connector 18"/>
          <p:cNvCxnSpPr/>
          <p:nvPr/>
        </p:nvCxnSpPr>
        <p:spPr>
          <a:xfrm>
            <a:off x="8019288" y="1481328"/>
            <a:ext cx="109727"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83879" y="1234440"/>
            <a:ext cx="1755648" cy="502920"/>
          </a:xfrm>
          <a:prstGeom prst="roundRect">
            <a:avLst/>
          </a:prstGeom>
          <a:solidFill>
            <a:srgbClr val="E8F6ED"/>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82F4C"/>
                </a:solidFill>
                <a:latin typeface="Aptos"/>
              </a:rPr>
              <a:t>5</a:t>
            </a:r>
          </a:p>
        </p:txBody>
      </p:sp>
      <p:sp>
        <p:nvSpPr>
          <p:cNvPr id="21" name="TextBox 20"/>
          <p:cNvSpPr txBox="1"/>
          <p:nvPr/>
        </p:nvSpPr>
        <p:spPr>
          <a:xfrm>
            <a:off x="8183879" y="1828800"/>
            <a:ext cx="1755648" cy="320040"/>
          </a:xfrm>
          <a:prstGeom prst="rect">
            <a:avLst/>
          </a:prstGeom>
          <a:noFill/>
        </p:spPr>
        <p:txBody>
          <a:bodyPr wrap="square">
            <a:spAutoFit/>
          </a:bodyPr>
          <a:lstStyle/>
          <a:p>
            <a:pPr algn="ctr"/>
            <a:r>
              <a:rPr sz="1300" b="1">
                <a:solidFill>
                  <a:srgbClr val="182F4C"/>
                </a:solidFill>
                <a:latin typeface="Aptos"/>
              </a:rPr>
              <a:t>Cluster</a:t>
            </a:r>
          </a:p>
        </p:txBody>
      </p:sp>
      <p:sp>
        <p:nvSpPr>
          <p:cNvPr id="22" name="TextBox 21"/>
          <p:cNvSpPr txBox="1"/>
          <p:nvPr/>
        </p:nvSpPr>
        <p:spPr>
          <a:xfrm>
            <a:off x="8183879" y="2176272"/>
            <a:ext cx="1755648" cy="548640"/>
          </a:xfrm>
          <a:prstGeom prst="rect">
            <a:avLst/>
          </a:prstGeom>
          <a:noFill/>
        </p:spPr>
        <p:txBody>
          <a:bodyPr wrap="square">
            <a:spAutoFit/>
          </a:bodyPr>
          <a:lstStyle/>
          <a:p>
            <a:pPr algn="ctr"/>
            <a:r>
              <a:rPr sz="950" b="0">
                <a:solidFill>
                  <a:srgbClr val="566373"/>
                </a:solidFill>
                <a:latin typeface="Aptos"/>
              </a:rPr>
              <a:t>Use K-Means on reduced data</a:t>
            </a:r>
          </a:p>
        </p:txBody>
      </p:sp>
      <p:cxnSp>
        <p:nvCxnSpPr>
          <p:cNvPr id="23" name="Connector 22"/>
          <p:cNvCxnSpPr/>
          <p:nvPr/>
        </p:nvCxnSpPr>
        <p:spPr>
          <a:xfrm>
            <a:off x="9939528" y="1481328"/>
            <a:ext cx="109727" cy="0"/>
          </a:xfrm>
          <a:prstGeom prst="line">
            <a:avLst/>
          </a:prstGeom>
          <a:ln w="17780">
            <a:solidFill>
              <a:srgbClr val="8997A7"/>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104119" y="1234440"/>
            <a:ext cx="1755648" cy="502920"/>
          </a:xfrm>
          <a:prstGeom prst="roundRect">
            <a:avLst/>
          </a:prstGeom>
          <a:solidFill>
            <a:srgbClr val="E8F6ED"/>
          </a:solidFill>
          <a:ln w="17780">
            <a:solidFill>
              <a:srgbClr val="1C9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82F4C"/>
                </a:solidFill>
                <a:latin typeface="Aptos"/>
              </a:rPr>
              <a:t>6</a:t>
            </a:r>
          </a:p>
        </p:txBody>
      </p:sp>
      <p:sp>
        <p:nvSpPr>
          <p:cNvPr id="25" name="TextBox 24"/>
          <p:cNvSpPr txBox="1"/>
          <p:nvPr/>
        </p:nvSpPr>
        <p:spPr>
          <a:xfrm>
            <a:off x="10104119" y="1828800"/>
            <a:ext cx="1755648" cy="320040"/>
          </a:xfrm>
          <a:prstGeom prst="rect">
            <a:avLst/>
          </a:prstGeom>
          <a:noFill/>
        </p:spPr>
        <p:txBody>
          <a:bodyPr wrap="square">
            <a:spAutoFit/>
          </a:bodyPr>
          <a:lstStyle/>
          <a:p>
            <a:pPr algn="ctr"/>
            <a:r>
              <a:rPr sz="1300" b="1">
                <a:solidFill>
                  <a:srgbClr val="182F4C"/>
                </a:solidFill>
                <a:latin typeface="Aptos"/>
              </a:rPr>
              <a:t>Visualize</a:t>
            </a:r>
          </a:p>
        </p:txBody>
      </p:sp>
      <p:sp>
        <p:nvSpPr>
          <p:cNvPr id="26" name="TextBox 25"/>
          <p:cNvSpPr txBox="1"/>
          <p:nvPr/>
        </p:nvSpPr>
        <p:spPr>
          <a:xfrm>
            <a:off x="10104119" y="2176272"/>
            <a:ext cx="1755648" cy="548640"/>
          </a:xfrm>
          <a:prstGeom prst="rect">
            <a:avLst/>
          </a:prstGeom>
          <a:noFill/>
        </p:spPr>
        <p:txBody>
          <a:bodyPr wrap="square">
            <a:spAutoFit/>
          </a:bodyPr>
          <a:lstStyle/>
          <a:p>
            <a:pPr algn="ctr"/>
            <a:r>
              <a:rPr sz="950" b="0">
                <a:solidFill>
                  <a:srgbClr val="566373"/>
                </a:solidFill>
                <a:latin typeface="Aptos"/>
              </a:rPr>
              <a:t>Plot PC1 vs PC2</a:t>
            </a:r>
          </a:p>
        </p:txBody>
      </p:sp>
      <p:sp>
        <p:nvSpPr>
          <p:cNvPr id="27" name="Rounded Rectangle 26"/>
          <p:cNvSpPr/>
          <p:nvPr/>
        </p:nvSpPr>
        <p:spPr>
          <a:xfrm>
            <a:off x="640080" y="3154680"/>
            <a:ext cx="3429000" cy="2057400"/>
          </a:xfrm>
          <a:prstGeom prst="roundRect">
            <a:avLst/>
          </a:prstGeom>
          <a:solidFill>
            <a:srgbClr val="E8F6ED"/>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0080" y="3154680"/>
            <a:ext cx="50292" cy="205740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7" y="3282696"/>
            <a:ext cx="3063240" cy="365760"/>
          </a:xfrm>
          <a:prstGeom prst="rect">
            <a:avLst/>
          </a:prstGeom>
          <a:noFill/>
        </p:spPr>
        <p:txBody>
          <a:bodyPr wrap="square">
            <a:spAutoFit/>
          </a:bodyPr>
          <a:lstStyle/>
          <a:p>
            <a:r>
              <a:rPr sz="1550" b="1">
                <a:solidFill>
                  <a:srgbClr val="182F4C"/>
                </a:solidFill>
                <a:latin typeface="Aptos"/>
              </a:rPr>
              <a:t>Expected outcome</a:t>
            </a:r>
          </a:p>
        </p:txBody>
      </p:sp>
      <p:sp>
        <p:nvSpPr>
          <p:cNvPr id="30" name="TextBox 29"/>
          <p:cNvSpPr txBox="1"/>
          <p:nvPr/>
        </p:nvSpPr>
        <p:spPr>
          <a:xfrm>
            <a:off x="841247" y="3721608"/>
            <a:ext cx="3063240" cy="1371600"/>
          </a:xfrm>
          <a:prstGeom prst="rect">
            <a:avLst/>
          </a:prstGeom>
          <a:noFill/>
        </p:spPr>
        <p:txBody>
          <a:bodyPr wrap="square">
            <a:spAutoFit/>
          </a:bodyPr>
          <a:lstStyle/>
          <a:p>
            <a:r>
              <a:rPr sz="1150" b="0">
                <a:solidFill>
                  <a:srgbClr val="566373"/>
                </a:solidFill>
                <a:latin typeface="Aptos"/>
              </a:rPr>
              <a:t>• Fewer meaningful dimensions
• Important variation retained
• 2D music representation
• Groups of similar musical characteristics</a:t>
            </a:r>
          </a:p>
        </p:txBody>
      </p:sp>
      <p:sp>
        <p:nvSpPr>
          <p:cNvPr id="31" name="Rounded Rectangle 30"/>
          <p:cNvSpPr/>
          <p:nvPr/>
        </p:nvSpPr>
        <p:spPr>
          <a:xfrm>
            <a:off x="4370832" y="3154680"/>
            <a:ext cx="3429000" cy="2057400"/>
          </a:xfrm>
          <a:prstGeom prst="roundRect">
            <a:avLst/>
          </a:prstGeom>
          <a:solidFill>
            <a:srgbClr val="FFFFFF"/>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370832" y="3154680"/>
            <a:ext cx="50292" cy="205740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0" y="3282696"/>
            <a:ext cx="3063240" cy="365760"/>
          </a:xfrm>
          <a:prstGeom prst="rect">
            <a:avLst/>
          </a:prstGeom>
          <a:noFill/>
        </p:spPr>
        <p:txBody>
          <a:bodyPr wrap="square">
            <a:spAutoFit/>
          </a:bodyPr>
          <a:lstStyle/>
          <a:p>
            <a:r>
              <a:rPr sz="1550" b="1">
                <a:solidFill>
                  <a:srgbClr val="182F4C"/>
                </a:solidFill>
                <a:latin typeface="Aptos"/>
              </a:rPr>
              <a:t>Technologies</a:t>
            </a:r>
          </a:p>
        </p:txBody>
      </p:sp>
      <p:sp>
        <p:nvSpPr>
          <p:cNvPr id="34" name="TextBox 33"/>
          <p:cNvSpPr txBox="1"/>
          <p:nvPr/>
        </p:nvSpPr>
        <p:spPr>
          <a:xfrm>
            <a:off x="4572000" y="3721608"/>
            <a:ext cx="3063240" cy="1371600"/>
          </a:xfrm>
          <a:prstGeom prst="rect">
            <a:avLst/>
          </a:prstGeom>
          <a:noFill/>
        </p:spPr>
        <p:txBody>
          <a:bodyPr wrap="square">
            <a:spAutoFit/>
          </a:bodyPr>
          <a:lstStyle/>
          <a:p>
            <a:r>
              <a:rPr sz="1150" b="0">
                <a:solidFill>
                  <a:srgbClr val="566373"/>
                </a:solidFill>
                <a:latin typeface="Aptos"/>
              </a:rPr>
              <a:t>Python
Pandas • NumPy
Scikit-learn
Matplotlib / Seaborn</a:t>
            </a:r>
          </a:p>
        </p:txBody>
      </p:sp>
      <p:sp>
        <p:nvSpPr>
          <p:cNvPr id="35" name="Rounded Rectangle 34"/>
          <p:cNvSpPr/>
          <p:nvPr/>
        </p:nvSpPr>
        <p:spPr>
          <a:xfrm>
            <a:off x="8101583" y="3154680"/>
            <a:ext cx="3429000" cy="2057400"/>
          </a:xfrm>
          <a:prstGeom prst="roundRect">
            <a:avLst/>
          </a:prstGeom>
          <a:solidFill>
            <a:srgbClr val="FFFFFF"/>
          </a:solidFill>
          <a:ln>
            <a:solidFill>
              <a:srgbClr val="D6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101583" y="3154680"/>
            <a:ext cx="50292" cy="2057400"/>
          </a:xfrm>
          <a:prstGeom prst="rect">
            <a:avLst/>
          </a:prstGeom>
          <a:solidFill>
            <a:srgbClr val="1C96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02752" y="3282696"/>
            <a:ext cx="3063240" cy="365760"/>
          </a:xfrm>
          <a:prstGeom prst="rect">
            <a:avLst/>
          </a:prstGeom>
          <a:noFill/>
        </p:spPr>
        <p:txBody>
          <a:bodyPr wrap="square">
            <a:spAutoFit/>
          </a:bodyPr>
          <a:lstStyle/>
          <a:p>
            <a:r>
              <a:rPr sz="1550" b="1">
                <a:solidFill>
                  <a:srgbClr val="182F4C"/>
                </a:solidFill>
                <a:latin typeface="Aptos"/>
              </a:rPr>
              <a:t>GitHub — Assessment 1</a:t>
            </a:r>
          </a:p>
        </p:txBody>
      </p:sp>
      <p:sp>
        <p:nvSpPr>
          <p:cNvPr id="38" name="TextBox 37"/>
          <p:cNvSpPr txBox="1"/>
          <p:nvPr/>
        </p:nvSpPr>
        <p:spPr>
          <a:xfrm>
            <a:off x="8302752" y="3721608"/>
            <a:ext cx="3063240" cy="1371600"/>
          </a:xfrm>
          <a:prstGeom prst="rect">
            <a:avLst/>
          </a:prstGeom>
          <a:noFill/>
        </p:spPr>
        <p:txBody>
          <a:bodyPr wrap="square">
            <a:spAutoFit/>
          </a:bodyPr>
          <a:lstStyle/>
          <a:p>
            <a:r>
              <a:rPr sz="1150" b="0">
                <a:solidFill>
                  <a:srgbClr val="566373"/>
                </a:solidFill>
                <a:latin typeface="Aptos"/>
              </a:rPr>
              <a:t>Repository: Spotify-Music-Feature-Reduction
Current contents:
README.md only</a:t>
            </a:r>
          </a:p>
        </p:txBody>
      </p:sp>
      <p:sp>
        <p:nvSpPr>
          <p:cNvPr id="39" name="TextBox 38"/>
          <p:cNvSpPr txBox="1"/>
          <p:nvPr/>
        </p:nvSpPr>
        <p:spPr>
          <a:xfrm>
            <a:off x="777240" y="5669280"/>
            <a:ext cx="10698480" cy="457200"/>
          </a:xfrm>
          <a:prstGeom prst="rect">
            <a:avLst/>
          </a:prstGeom>
          <a:noFill/>
        </p:spPr>
        <p:txBody>
          <a:bodyPr wrap="square">
            <a:spAutoFit/>
          </a:bodyPr>
          <a:lstStyle/>
          <a:p>
            <a:pPr algn="ctr"/>
            <a:r>
              <a:rPr sz="1800" b="1">
                <a:solidFill>
                  <a:srgbClr val="1C9658"/>
                </a:solidFill>
                <a:latin typeface="Aptos"/>
              </a:rPr>
              <a:t>Many features  →  PCA  →  fewer dimensions  →  visible music patterns</a:t>
            </a:r>
          </a:p>
        </p:txBody>
      </p:sp>
      <p:sp>
        <p:nvSpPr>
          <p:cNvPr id="40" name="TextBox 39"/>
          <p:cNvSpPr txBox="1"/>
          <p:nvPr/>
        </p:nvSpPr>
        <p:spPr>
          <a:xfrm>
            <a:off x="594360" y="6473952"/>
            <a:ext cx="10972800" cy="182880"/>
          </a:xfrm>
          <a:prstGeom prst="rect">
            <a:avLst/>
          </a:prstGeom>
          <a:noFill/>
        </p:spPr>
        <p:txBody>
          <a:bodyPr wrap="square">
            <a:spAutoFit/>
          </a:bodyPr>
          <a:lstStyle/>
          <a:p>
            <a:pPr algn="r"/>
            <a:r>
              <a:rPr sz="900" b="0">
                <a:solidFill>
                  <a:srgbClr val="8997A7"/>
                </a:solidFill>
                <a:latin typeface="Aptos"/>
              </a:rPr>
              <a:t>PBL Assessment 1  •  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694</Words>
  <Application>Microsoft Office PowerPoint</Application>
  <PresentationFormat>Widescreen</PresentationFormat>
  <Paragraphs>102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Jarrar Khan</cp:lastModifiedBy>
  <cp:revision>2</cp:revision>
  <dcterms:created xsi:type="dcterms:W3CDTF">2013-01-27T09:14:16Z</dcterms:created>
  <dcterms:modified xsi:type="dcterms:W3CDTF">2026-08-20T09:08:23Z</dcterms:modified>
  <cp:category/>
</cp:coreProperties>
</file>